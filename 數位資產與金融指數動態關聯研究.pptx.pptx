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8" r:id="rId7"/>
    <p:sldId id="262" r:id="rId8"/>
    <p:sldId id="269" r:id="rId9"/>
    <p:sldId id="264" r:id="rId10"/>
    <p:sldId id="265" r:id="rId11"/>
    <p:sldId id="263" r:id="rId12"/>
    <p:sldId id="266" r:id="rId13"/>
    <p:sldId id="267" r:id="rId14"/>
  </p:sldIdLst>
  <p:sldSz cx="18288000" cy="10287000"/>
  <p:notesSz cx="6858000" cy="9144000"/>
  <p:embeddedFontLst>
    <p:embeddedFont>
      <p:font typeface="Arimo" panose="020B0604020202020204" charset="0"/>
      <p:regular r:id="rId16"/>
    </p:embeddedFont>
    <p:embeddedFont>
      <p:font typeface="Arimo Bold" panose="020B0604020202020204" charset="0"/>
      <p:regular r:id="rId17"/>
    </p:embeddedFont>
    <p:embeddedFont>
      <p:font typeface="Arimo Italics" panose="020B0604020202020204" charset="0"/>
      <p:regular r:id="rId18"/>
    </p:embeddedFont>
    <p:embeddedFont>
      <p:font typeface="Cambria Math" panose="02040503050406030204" pitchFamily="18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53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14.06.2026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47205-A968-88B7-C864-7BF43AD8B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84526B3-076A-8583-2DBD-B433897D3C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91021D-6BEA-9FD6-1658-0AA9247200E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C026CD55-1AE3-888B-27F7-FCEB10D36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A42EBB4D-1A1A-F04F-7454-83829A3742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4C5D74-2036-4EC0-8D47-2DCE8481CC2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83CC6D-110C-41E4-9295-BB0B92D56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528774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tm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442912" y="2606573"/>
            <a:ext cx="17402175" cy="1123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40"/>
              </a:lnSpc>
            </a:pPr>
            <a:r>
              <a:rPr lang="en-US" sz="72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數位資產與金融指數之動態關聯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57250" y="4292498"/>
            <a:ext cx="16573500" cy="800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70"/>
              </a:lnSpc>
            </a:pPr>
            <a:r>
              <a:rPr lang="en-US" sz="3150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基於 Power BI 之比特幣與標普 500 量化觀測系統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8072438" y="5949848"/>
            <a:ext cx="2143125" cy="28575"/>
            <a:chOff x="0" y="0"/>
            <a:chExt cx="2857500" cy="381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857500" cy="38100"/>
            </a:xfrm>
            <a:custGeom>
              <a:avLst/>
              <a:gdLst/>
              <a:ahLst/>
              <a:cxnLst/>
              <a:rect l="l" t="t" r="r" b="b"/>
              <a:pathLst>
                <a:path w="2857500" h="38100">
                  <a:moveTo>
                    <a:pt x="0" y="0"/>
                  </a:moveTo>
                  <a:lnTo>
                    <a:pt x="2857500" y="0"/>
                  </a:lnTo>
                  <a:lnTo>
                    <a:pt x="28575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E3A8A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857250" y="6711848"/>
            <a:ext cx="16573500" cy="623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55"/>
              </a:lnSpc>
            </a:pPr>
            <a:r>
              <a:rPr lang="en-US" sz="2475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學生：陳品霖 (112111207)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57250" y="7611961"/>
            <a:ext cx="16573500" cy="426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5"/>
              </a:lnSpc>
            </a:pPr>
            <a:r>
              <a:rPr lang="en-US" sz="2025">
                <a:solidFill>
                  <a:srgbClr val="94A3B8"/>
                </a:solidFill>
                <a:latin typeface="Arimo"/>
                <a:ea typeface="Arimo"/>
                <a:cs typeface="Arimo"/>
                <a:sym typeface="Arimo"/>
              </a:rPr>
              <a:t>商業智慧 期末研究報告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501188" y="3373184"/>
            <a:ext cx="7929562" cy="5715000"/>
            <a:chOff x="0" y="0"/>
            <a:chExt cx="10572750" cy="762000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0572750" cy="7620000"/>
            </a:xfrm>
            <a:custGeom>
              <a:avLst/>
              <a:gdLst/>
              <a:ahLst/>
              <a:cxnLst/>
              <a:rect l="l" t="t" r="r" b="b"/>
              <a:pathLst>
                <a:path w="10572750" h="7620000">
                  <a:moveTo>
                    <a:pt x="0" y="0"/>
                  </a:moveTo>
                  <a:lnTo>
                    <a:pt x="10572750" y="0"/>
                  </a:lnTo>
                  <a:lnTo>
                    <a:pt x="10572750" y="7620000"/>
                  </a:lnTo>
                  <a:lnTo>
                    <a:pt x="0" y="7620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250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857250" y="1302839"/>
            <a:ext cx="17402175" cy="71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2024 機構化元年：研究動機與背景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817959" y="2688391"/>
            <a:ext cx="8326041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資產屬性的轉變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7959" y="3469441"/>
            <a:ext cx="7929562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結構性突破</a:t>
            </a: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：歷史轉折點：2024 年 1 月美國 SEC 正式批准「比特幣現貨 ETF」，傳統華爾街巨頭（如 BlackRock、Fidelity）資金合法合規流入。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7959" y="5088355"/>
            <a:ext cx="7929562" cy="3571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屬性爭議（研究動機）：</a:t>
            </a:r>
          </a:p>
          <a:p>
            <a:pPr marL="485775" lvl="1" indent="-242888" algn="l">
              <a:lnSpc>
                <a:spcPts val="4050"/>
              </a:lnSpc>
              <a:buFont typeface="Arial"/>
              <a:buChar char="•"/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傳統觀點：比特幣是獨立於體制外的「數位黃金」，具備抗通膨、與股市低相關的避險屬性。</a:t>
            </a:r>
          </a:p>
          <a:p>
            <a:pPr marL="485775" lvl="1" indent="-242888" algn="l">
              <a:lnSpc>
                <a:spcPts val="4050"/>
              </a:lnSpc>
              <a:buFont typeface="Arial"/>
              <a:buChar char="•"/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機構化現況：當大量機構資金將比特幣納入標準資產配置，它是否已被「美股化」，演變成高 Beta 的流動性敏感資產？</a:t>
            </a:r>
          </a:p>
          <a:p>
            <a:pPr algn="l">
              <a:lnSpc>
                <a:spcPts val="4050"/>
              </a:lnSpc>
            </a:pPr>
            <a:endParaRPr lang="en-US" sz="225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817959" y="8336380"/>
            <a:ext cx="7929562" cy="2028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研究目的：</a:t>
            </a: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利用 Power BI 建立動態觀測系統，實時量化兩者關聯性，作為資產配置的決策輔助。</a:t>
            </a:r>
          </a:p>
          <a:p>
            <a:pPr algn="l">
              <a:lnSpc>
                <a:spcPts val="4050"/>
              </a:lnSpc>
            </a:pPr>
            <a:endParaRPr lang="en-US" sz="225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4050"/>
              </a:lnSpc>
            </a:pPr>
            <a:endParaRPr lang="en-US" sz="225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grpSp>
        <p:nvGrpSpPr>
          <p:cNvPr id="13" name="Group 13"/>
          <p:cNvGrpSpPr/>
          <p:nvPr/>
        </p:nvGrpSpPr>
        <p:grpSpPr>
          <a:xfrm>
            <a:off x="9515475" y="3387471"/>
            <a:ext cx="7900988" cy="5686425"/>
            <a:chOff x="0" y="0"/>
            <a:chExt cx="10534650" cy="7581900"/>
          </a:xfrm>
        </p:grpSpPr>
        <p:sp>
          <p:nvSpPr>
            <p:cNvPr id="14" name="Freeform 14" descr="image.png"/>
            <p:cNvSpPr/>
            <p:nvPr/>
          </p:nvSpPr>
          <p:spPr>
            <a:xfrm>
              <a:off x="0" y="0"/>
              <a:ext cx="10534650" cy="7581900"/>
            </a:xfrm>
            <a:custGeom>
              <a:avLst/>
              <a:gdLst/>
              <a:ahLst/>
              <a:cxnLst/>
              <a:rect l="l" t="t" r="r" b="b"/>
              <a:pathLst>
                <a:path w="10534650" h="7581900">
                  <a:moveTo>
                    <a:pt x="0" y="0"/>
                  </a:moveTo>
                  <a:lnTo>
                    <a:pt x="10534650" y="0"/>
                  </a:lnTo>
                  <a:lnTo>
                    <a:pt x="10534650" y="7581900"/>
                  </a:lnTo>
                  <a:lnTo>
                    <a:pt x="0" y="7581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390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4186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57250" y="4666212"/>
            <a:ext cx="5333924" cy="3128962"/>
            <a:chOff x="0" y="0"/>
            <a:chExt cx="7111898" cy="417195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7111873" cy="4171950"/>
            </a:xfrm>
            <a:custGeom>
              <a:avLst/>
              <a:gdLst/>
              <a:ahLst/>
              <a:cxnLst/>
              <a:rect l="l" t="t" r="r" b="b"/>
              <a:pathLst>
                <a:path w="7111873" h="4171950">
                  <a:moveTo>
                    <a:pt x="0" y="0"/>
                  </a:moveTo>
                  <a:lnTo>
                    <a:pt x="7111873" y="0"/>
                  </a:lnTo>
                  <a:lnTo>
                    <a:pt x="7111873" y="4171950"/>
                  </a:lnTo>
                  <a:lnTo>
                    <a:pt x="0" y="4171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276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476924" y="4666212"/>
            <a:ext cx="5333924" cy="3128962"/>
            <a:chOff x="0" y="0"/>
            <a:chExt cx="7111898" cy="4171950"/>
          </a:xfrm>
        </p:grpSpPr>
        <p:sp>
          <p:nvSpPr>
            <p:cNvPr id="7" name="Freeform 7" descr="image.png"/>
            <p:cNvSpPr/>
            <p:nvPr/>
          </p:nvSpPr>
          <p:spPr>
            <a:xfrm>
              <a:off x="0" y="0"/>
              <a:ext cx="7111873" cy="4171950"/>
            </a:xfrm>
            <a:custGeom>
              <a:avLst/>
              <a:gdLst/>
              <a:ahLst/>
              <a:cxnLst/>
              <a:rect l="l" t="t" r="r" b="b"/>
              <a:pathLst>
                <a:path w="7111873" h="4171950">
                  <a:moveTo>
                    <a:pt x="0" y="0"/>
                  </a:moveTo>
                  <a:lnTo>
                    <a:pt x="7111873" y="0"/>
                  </a:lnTo>
                  <a:lnTo>
                    <a:pt x="7111873" y="4171950"/>
                  </a:lnTo>
                  <a:lnTo>
                    <a:pt x="0" y="4171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276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096598" y="4666212"/>
            <a:ext cx="5334152" cy="3128962"/>
            <a:chOff x="0" y="0"/>
            <a:chExt cx="7112203" cy="4171950"/>
          </a:xfrm>
        </p:grpSpPr>
        <p:sp>
          <p:nvSpPr>
            <p:cNvPr id="9" name="Freeform 9" descr="image.png"/>
            <p:cNvSpPr/>
            <p:nvPr/>
          </p:nvSpPr>
          <p:spPr>
            <a:xfrm>
              <a:off x="0" y="0"/>
              <a:ext cx="7112254" cy="4171950"/>
            </a:xfrm>
            <a:custGeom>
              <a:avLst/>
              <a:gdLst/>
              <a:ahLst/>
              <a:cxnLst/>
              <a:rect l="l" t="t" r="r" b="b"/>
              <a:pathLst>
                <a:path w="7112254" h="4171950">
                  <a:moveTo>
                    <a:pt x="0" y="0"/>
                  </a:moveTo>
                  <a:lnTo>
                    <a:pt x="7112254" y="0"/>
                  </a:lnTo>
                  <a:lnTo>
                    <a:pt x="7112254" y="4171950"/>
                  </a:lnTo>
                  <a:lnTo>
                    <a:pt x="0" y="4171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-280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857250" y="1302839"/>
            <a:ext cx="17402175" cy="71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系統開發目標步驟與達成標準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543050" y="5132937"/>
            <a:ext cx="4219499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數據整合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85875" y="5794924"/>
            <a:ext cx="4476674" cy="1428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整合 CoinGecko 與 Yahoo Finance 異質時序，建立單向日期維度橋樑。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134149" y="5132937"/>
            <a:ext cx="4248074" cy="519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動態建模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905549" y="5794924"/>
            <a:ext cx="4476674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透過 DAX 實作 Pearson's r 演算法，隨篩選器即時重算相關係數。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753823" y="5132937"/>
            <a:ext cx="4248302" cy="519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異常發現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525223" y="5794924"/>
            <a:ext cx="4476902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精確捕捉特定巨集事件下的「脫鉤區間」，提升風險配置之靈活性。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100138" y="5151987"/>
            <a:ext cx="385762" cy="342900"/>
            <a:chOff x="0" y="0"/>
            <a:chExt cx="514350" cy="457200"/>
          </a:xfrm>
        </p:grpSpPr>
        <p:sp>
          <p:nvSpPr>
            <p:cNvPr id="20" name="Freeform 20" descr="image.png"/>
            <p:cNvSpPr/>
            <p:nvPr/>
          </p:nvSpPr>
          <p:spPr>
            <a:xfrm>
              <a:off x="0" y="0"/>
              <a:ext cx="514350" cy="457200"/>
            </a:xfrm>
            <a:custGeom>
              <a:avLst/>
              <a:gdLst/>
              <a:ahLst/>
              <a:cxnLst/>
              <a:rect l="l" t="t" r="r" b="b"/>
              <a:pathLst>
                <a:path w="514350" h="457200">
                  <a:moveTo>
                    <a:pt x="0" y="0"/>
                  </a:moveTo>
                  <a:lnTo>
                    <a:pt x="514350" y="0"/>
                  </a:lnTo>
                  <a:lnTo>
                    <a:pt x="51435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-4166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734099" y="5151987"/>
            <a:ext cx="342900" cy="342900"/>
            <a:chOff x="0" y="0"/>
            <a:chExt cx="457200" cy="457200"/>
          </a:xfrm>
        </p:grpSpPr>
        <p:sp>
          <p:nvSpPr>
            <p:cNvPr id="22" name="Freeform 22" descr="image.png"/>
            <p:cNvSpPr/>
            <p:nvPr/>
          </p:nvSpPr>
          <p:spPr>
            <a:xfrm>
              <a:off x="0" y="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0" y="0"/>
                  </a:moveTo>
                  <a:lnTo>
                    <a:pt x="457200" y="0"/>
                  </a:lnTo>
                  <a:lnTo>
                    <a:pt x="4572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2353773" y="5151987"/>
            <a:ext cx="342900" cy="342900"/>
            <a:chOff x="0" y="0"/>
            <a:chExt cx="457200" cy="457200"/>
          </a:xfrm>
        </p:grpSpPr>
        <p:sp>
          <p:nvSpPr>
            <p:cNvPr id="24" name="Freeform 24" descr="image.png"/>
            <p:cNvSpPr/>
            <p:nvPr/>
          </p:nvSpPr>
          <p:spPr>
            <a:xfrm>
              <a:off x="0" y="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0" y="0"/>
                  </a:moveTo>
                  <a:lnTo>
                    <a:pt x="457200" y="0"/>
                  </a:lnTo>
                  <a:lnTo>
                    <a:pt x="4572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285875" y="3302183"/>
            <a:ext cx="4476674" cy="7791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69"/>
              </a:lnSpc>
              <a:spcBef>
                <a:spcPct val="0"/>
              </a:spcBef>
            </a:pPr>
            <a:r>
              <a:rPr lang="en-US" sz="364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第一步：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134149" y="3302183"/>
            <a:ext cx="4476674" cy="7791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69"/>
              </a:lnSpc>
              <a:spcBef>
                <a:spcPct val="0"/>
              </a:spcBef>
            </a:pPr>
            <a:r>
              <a:rPr lang="en-US" sz="364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第二步：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353773" y="3302183"/>
            <a:ext cx="4476674" cy="7791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69"/>
              </a:lnSpc>
              <a:spcBef>
                <a:spcPct val="0"/>
              </a:spcBef>
            </a:pPr>
            <a:r>
              <a:rPr lang="en-US" sz="364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第三步：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853488" y="2445839"/>
            <a:ext cx="5557748" cy="7145597"/>
            <a:chOff x="0" y="0"/>
            <a:chExt cx="7262175" cy="933697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262175" cy="9336979"/>
            </a:xfrm>
            <a:custGeom>
              <a:avLst/>
              <a:gdLst/>
              <a:ahLst/>
              <a:cxnLst/>
              <a:rect l="l" t="t" r="r" b="b"/>
              <a:pathLst>
                <a:path w="7262175" h="9336979">
                  <a:moveTo>
                    <a:pt x="0" y="0"/>
                  </a:moveTo>
                  <a:lnTo>
                    <a:pt x="7262175" y="0"/>
                  </a:lnTo>
                  <a:lnTo>
                    <a:pt x="7262175" y="9336979"/>
                  </a:lnTo>
                  <a:lnTo>
                    <a:pt x="0" y="93369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269" r="-226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175327" y="2372135"/>
            <a:ext cx="5246915" cy="7145597"/>
            <a:chOff x="0" y="0"/>
            <a:chExt cx="6856018" cy="933697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856018" cy="9336979"/>
            </a:xfrm>
            <a:custGeom>
              <a:avLst/>
              <a:gdLst/>
              <a:ahLst/>
              <a:cxnLst/>
              <a:rect l="l" t="t" r="r" b="b"/>
              <a:pathLst>
                <a:path w="6856018" h="9336979">
                  <a:moveTo>
                    <a:pt x="0" y="0"/>
                  </a:moveTo>
                  <a:lnTo>
                    <a:pt x="6856018" y="0"/>
                  </a:lnTo>
                  <a:lnTo>
                    <a:pt x="6856018" y="9336979"/>
                  </a:lnTo>
                  <a:lnTo>
                    <a:pt x="0" y="93369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6424" r="-6424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857250" y="1302839"/>
            <a:ext cx="17402175" cy="71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技術痛點：異質時序之對齊與衝突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42988" y="3582734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09675" y="3458909"/>
            <a:ext cx="7577138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數位資產 (24/7)</a:t>
            </a: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：週末與假期具備連續價格波動。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42988" y="4154234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09675" y="4030409"/>
            <a:ext cx="7577138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傳統股市 (工作日)</a:t>
            </a: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：Yahoo Finance 週末斷檔導致空值。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2988" y="4725734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09675" y="4601909"/>
            <a:ext cx="7577138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失真風險</a:t>
            </a: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：若無處理，皮爾森公式分母將因空值引發失真或計算報錯。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820350" y="8884769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週六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820350" y="8237886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820350" y="7560582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週一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809933" y="6869294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週二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820350" y="6193019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週三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820350" y="5459159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週四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820350" y="4763833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週五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820350" y="4073271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週六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474211" y="8884769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週五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474211" y="8349449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週一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474211" y="7913007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週二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474211" y="7389132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週三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474211" y="6869294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週四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474211" y="6345419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405368" y="2460127"/>
            <a:ext cx="6200430" cy="7083154"/>
            <a:chOff x="0" y="0"/>
            <a:chExt cx="8393696" cy="958866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393696" cy="9588664"/>
            </a:xfrm>
            <a:custGeom>
              <a:avLst/>
              <a:gdLst/>
              <a:ahLst/>
              <a:cxnLst/>
              <a:rect l="l" t="t" r="r" b="b"/>
              <a:pathLst>
                <a:path w="8393696" h="9588664">
                  <a:moveTo>
                    <a:pt x="0" y="0"/>
                  </a:moveTo>
                  <a:lnTo>
                    <a:pt x="8393696" y="0"/>
                  </a:lnTo>
                  <a:lnTo>
                    <a:pt x="8393696" y="9588664"/>
                  </a:lnTo>
                  <a:lnTo>
                    <a:pt x="0" y="9588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6034" r="-26034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872791" y="2519333"/>
            <a:ext cx="6209016" cy="6964741"/>
            <a:chOff x="0" y="0"/>
            <a:chExt cx="8113171" cy="910065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13171" cy="9100659"/>
            </a:xfrm>
            <a:custGeom>
              <a:avLst/>
              <a:gdLst/>
              <a:ahLst/>
              <a:cxnLst/>
              <a:rect l="l" t="t" r="r" b="b"/>
              <a:pathLst>
                <a:path w="8113171" h="9100659">
                  <a:moveTo>
                    <a:pt x="0" y="0"/>
                  </a:moveTo>
                  <a:lnTo>
                    <a:pt x="8113171" y="0"/>
                  </a:lnTo>
                  <a:lnTo>
                    <a:pt x="8113171" y="9100659"/>
                  </a:lnTo>
                  <a:lnTo>
                    <a:pt x="0" y="91006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667" r="-2667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857250" y="1302839"/>
            <a:ext cx="17402175" cy="71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匯入表格資料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42988" y="2742327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09675" y="2618502"/>
            <a:ext cx="7577138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將兩筆資料匯入PowerBI中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3857625" y="1207961"/>
            <a:ext cx="11101388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建模決策：以美股交易日為主軸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857625" y="2095500"/>
            <a:ext cx="1057275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 dirty="0" err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星狀模型架構</a:t>
            </a: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043362" y="3019425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210050" y="2895600"/>
            <a:ext cx="10220325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dirty="0" err="1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以標普</a:t>
            </a: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 500 </a:t>
            </a:r>
            <a:r>
              <a:rPr lang="en-US" sz="2250" dirty="0" err="1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交易日為核心日期維度</a:t>
            </a: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043362" y="3590925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210050" y="3467100"/>
            <a:ext cx="10220325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建立 1 對多 (1:N) 單向關聯對齊。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043362" y="4162425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210050" y="4038600"/>
            <a:ext cx="10220325" cy="460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 dirty="0" err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自動清洗效果</a:t>
            </a:r>
            <a:r>
              <a:rPr lang="en-US" sz="2250" dirty="0" err="1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：零成本剔除週末波動，確保相關係數建立在</a:t>
            </a: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 1:1 </a:t>
            </a:r>
            <a:r>
              <a:rPr lang="en-US" sz="2250" dirty="0" err="1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的有效樣本之上</a:t>
            </a:r>
            <a:endParaRPr lang="en-US" sz="2250" dirty="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D7CF563E-863F-3E9D-8DD9-1C3DBCDC0B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384" y="4736608"/>
            <a:ext cx="15099232" cy="445832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57250" y="4495200"/>
            <a:ext cx="16573500" cy="1299048"/>
            <a:chOff x="0" y="0"/>
            <a:chExt cx="22098000" cy="1732064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22098000" cy="1732026"/>
            </a:xfrm>
            <a:custGeom>
              <a:avLst/>
              <a:gdLst/>
              <a:ahLst/>
              <a:cxnLst/>
              <a:rect l="l" t="t" r="r" b="b"/>
              <a:pathLst>
                <a:path w="22098000" h="1732026">
                  <a:moveTo>
                    <a:pt x="0" y="0"/>
                  </a:moveTo>
                  <a:lnTo>
                    <a:pt x="22098000" y="0"/>
                  </a:lnTo>
                  <a:lnTo>
                    <a:pt x="22098000" y="1732026"/>
                  </a:lnTo>
                  <a:lnTo>
                    <a:pt x="0" y="17320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1187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857250" y="1302839"/>
            <a:ext cx="17402175" cy="871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演算法實作：DAX 動態皮爾森矩陣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00150" y="4780950"/>
            <a:ext cx="15944850" cy="727548"/>
            <a:chOff x="0" y="0"/>
            <a:chExt cx="21259800" cy="970064"/>
          </a:xfrm>
        </p:grpSpPr>
        <p:sp>
          <p:nvSpPr>
            <p:cNvPr id="10" name="Freeform 10" descr="image.png"/>
            <p:cNvSpPr/>
            <p:nvPr/>
          </p:nvSpPr>
          <p:spPr>
            <a:xfrm>
              <a:off x="0" y="0"/>
              <a:ext cx="21259800" cy="970026"/>
            </a:xfrm>
            <a:custGeom>
              <a:avLst/>
              <a:gdLst/>
              <a:ahLst/>
              <a:cxnLst/>
              <a:rect l="l" t="t" r="r" b="b"/>
              <a:pathLst>
                <a:path w="21259800" h="970026">
                  <a:moveTo>
                    <a:pt x="0" y="0"/>
                  </a:moveTo>
                  <a:lnTo>
                    <a:pt x="21259800" y="0"/>
                  </a:lnTo>
                  <a:lnTo>
                    <a:pt x="21259800" y="970026"/>
                  </a:lnTo>
                  <a:lnTo>
                    <a:pt x="0" y="9700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1755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42988" y="6289548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2"/>
              <p:cNvSpPr txBox="1"/>
              <p:nvPr/>
            </p:nvSpPr>
            <p:spPr>
              <a:xfrm>
                <a:off x="1209675" y="6165723"/>
                <a:ext cx="16221075" cy="460447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4050"/>
                  </a:lnSpc>
                </a:pP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1E3A8A"/>
                        </a:solidFill>
                        <a:latin typeface="Cambria Math" panose="02040503050406030204" pitchFamily="18" charset="0"/>
                        <a:ea typeface="Arimo Bold"/>
                        <a:cs typeface="Arimo Bold"/>
                        <a:sym typeface="Arimo Bold"/>
                      </a:rPr>
                      <m:t>𝒙𝒊</m:t>
                    </m:r>
                    <m:r>
                      <a:rPr lang="en-US" sz="2400" b="1" i="1" smtClean="0">
                        <a:solidFill>
                          <a:srgbClr val="1E3A8A"/>
                        </a:solidFill>
                        <a:latin typeface="Cambria Math" panose="02040503050406030204" pitchFamily="18" charset="0"/>
                        <a:ea typeface="Arimo Bold"/>
                        <a:cs typeface="Arimo Bold"/>
                        <a:sym typeface="Arimo Bold"/>
                      </a:rPr>
                      <m:t>,</m:t>
                    </m:r>
                    <m:r>
                      <a:rPr lang="en-US" sz="2400" b="1" i="1" smtClean="0">
                        <a:solidFill>
                          <a:srgbClr val="1E3A8A"/>
                        </a:solidFill>
                        <a:latin typeface="Cambria Math" panose="02040503050406030204" pitchFamily="18" charset="0"/>
                        <a:ea typeface="Arimo Bold"/>
                        <a:cs typeface="Arimo Bold"/>
                        <a:sym typeface="Arimo Bold"/>
                      </a:rPr>
                      <m:t>𝒚𝒊</m:t>
                    </m:r>
                  </m:oMath>
                </a14:m>
                <a:r>
                  <a:rPr lang="en-US" sz="2250" dirty="0">
                    <a:solidFill>
                      <a:srgbClr val="334155"/>
                    </a:solidFill>
                    <a:latin typeface="Arimo"/>
                    <a:ea typeface="Arimo"/>
                    <a:cs typeface="Arimo"/>
                    <a:sym typeface="Arimo"/>
                  </a:rPr>
                  <a:t>：</a:t>
                </a:r>
                <a:r>
                  <a:rPr lang="zh-TW" altLang="en-US" sz="2250" dirty="0">
                    <a:solidFill>
                      <a:srgbClr val="334155"/>
                    </a:solidFill>
                    <a:latin typeface="Arimo"/>
                    <a:ea typeface="Arimo"/>
                    <a:cs typeface="Arimo"/>
                    <a:sym typeface="Arimo"/>
                  </a:rPr>
                  <a:t>個別價格數據。</a:t>
                </a:r>
                <a:endParaRPr lang="en-US" sz="2250" dirty="0">
                  <a:solidFill>
                    <a:srgbClr val="334155"/>
                  </a:solidFill>
                  <a:latin typeface="Arimo"/>
                  <a:ea typeface="Arimo"/>
                  <a:cs typeface="Arimo"/>
                  <a:sym typeface="Arimo"/>
                </a:endParaRPr>
              </a:p>
            </p:txBody>
          </p:sp>
        </mc:Choice>
        <mc:Fallback>
          <p:sp>
            <p:nvSpPr>
              <p:cNvPr id="12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9675" y="6165723"/>
                <a:ext cx="16221075" cy="460447"/>
              </a:xfrm>
              <a:prstGeom prst="rect">
                <a:avLst/>
              </a:prstGeom>
              <a:blipFill>
                <a:blip r:embed="rId6"/>
                <a:stretch>
                  <a:fillRect l="-639" b="-368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3"/>
          <p:cNvSpPr txBox="1"/>
          <p:nvPr/>
        </p:nvSpPr>
        <p:spPr>
          <a:xfrm>
            <a:off x="1042988" y="6861048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4"/>
              <p:cNvSpPr txBox="1"/>
              <p:nvPr/>
            </p:nvSpPr>
            <p:spPr>
              <a:xfrm>
                <a:off x="1209675" y="6737223"/>
                <a:ext cx="16221075" cy="46038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>
                  <a:lnSpc>
                    <a:spcPts val="4050"/>
                  </a:lnSpc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zh-TW" altLang="en-US" sz="24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zh-TW" alt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zh-TW" sz="24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acc>
                      <m:accPr>
                        <m:chr m:val="̅"/>
                        <m:ctrlPr>
                          <a:rPr lang="zh-TW" alt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zh-TW" alt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sz="2250" dirty="0">
                    <a:solidFill>
                      <a:srgbClr val="334155"/>
                    </a:solidFill>
                    <a:latin typeface="Arimo"/>
                    <a:ea typeface="Arimo"/>
                    <a:cs typeface="Arimo"/>
                    <a:sym typeface="Arimo"/>
                  </a:rPr>
                  <a:t>：</a:t>
                </a:r>
                <a:r>
                  <a:rPr lang="zh-TW" altLang="en-US" sz="2250" dirty="0">
                    <a:solidFill>
                      <a:srgbClr val="334155"/>
                    </a:solidFill>
                    <a:latin typeface="Arimo"/>
                    <a:ea typeface="Arimo"/>
                    <a:cs typeface="Arimo"/>
                    <a:sym typeface="Arimo"/>
                  </a:rPr>
                  <a:t>該時段的平均價格</a:t>
                </a:r>
                <a:endParaRPr lang="en-US" sz="2250" dirty="0">
                  <a:solidFill>
                    <a:srgbClr val="334155"/>
                  </a:solidFill>
                  <a:latin typeface="Arimo"/>
                  <a:ea typeface="Arimo"/>
                  <a:cs typeface="Arimo"/>
                  <a:sym typeface="Arimo"/>
                </a:endParaRPr>
              </a:p>
            </p:txBody>
          </p:sp>
        </mc:Choice>
        <mc:Fallback>
          <p:sp>
            <p:nvSpPr>
              <p:cNvPr id="14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9675" y="6737223"/>
                <a:ext cx="16221075" cy="460382"/>
              </a:xfrm>
              <a:prstGeom prst="rect">
                <a:avLst/>
              </a:prstGeom>
              <a:blipFill>
                <a:blip r:embed="rId7"/>
                <a:stretch>
                  <a:fillRect l="-451" b="-368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5"/>
          <p:cNvSpPr txBox="1"/>
          <p:nvPr/>
        </p:nvSpPr>
        <p:spPr>
          <a:xfrm>
            <a:off x="1042988" y="7432548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09675" y="7308723"/>
            <a:ext cx="16221075" cy="460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50"/>
              </a:lnSpc>
            </a:pPr>
            <a:r>
              <a:rPr lang="zh-TW" altLang="en-US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分子：看兩者是否同時偏離平均值</a:t>
            </a:r>
            <a:r>
              <a:rPr lang="en-US" altLang="zh-TW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(</a:t>
            </a:r>
            <a:r>
              <a:rPr lang="zh-TW" altLang="en-US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同步性</a:t>
            </a:r>
            <a:r>
              <a:rPr lang="en-US" altLang="zh-TW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)</a:t>
            </a:r>
            <a:endParaRPr lang="en-US" sz="2250" dirty="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3" name="TextBox 15">
            <a:extLst>
              <a:ext uri="{FF2B5EF4-FFF2-40B4-BE49-F238E27FC236}">
                <a16:creationId xmlns:a16="http://schemas.microsoft.com/office/drawing/2014/main" id="{C04ECC9D-96A4-3FF8-F76E-90C7AD059A80}"/>
              </a:ext>
            </a:extLst>
          </p:cNvPr>
          <p:cNvSpPr txBox="1"/>
          <p:nvPr/>
        </p:nvSpPr>
        <p:spPr>
          <a:xfrm>
            <a:off x="1042988" y="7954790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24" name="TextBox 16">
            <a:extLst>
              <a:ext uri="{FF2B5EF4-FFF2-40B4-BE49-F238E27FC236}">
                <a16:creationId xmlns:a16="http://schemas.microsoft.com/office/drawing/2014/main" id="{04F5D29E-F932-21A0-7186-454739A9DB89}"/>
              </a:ext>
            </a:extLst>
          </p:cNvPr>
          <p:cNvSpPr txBox="1"/>
          <p:nvPr/>
        </p:nvSpPr>
        <p:spPr>
          <a:xfrm>
            <a:off x="1209675" y="7830965"/>
            <a:ext cx="16221075" cy="460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zh-TW" altLang="en-US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分屬</a:t>
            </a: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</a:t>
            </a:r>
            <a:r>
              <a:rPr lang="zh-TW" alt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用來做標準化，確保結果不會因為幾萬塊起千塊的量級不同而失真</a:t>
            </a:r>
            <a:endParaRPr lang="en-US" sz="2250" dirty="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A21E5-4AF2-2C94-AC4D-00D10B5DF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45342E8-F365-A300-1256-B7EF99B8A05B}"/>
              </a:ext>
            </a:extLst>
          </p:cNvPr>
          <p:cNvGrpSpPr/>
          <p:nvPr/>
        </p:nvGrpSpPr>
        <p:grpSpPr>
          <a:xfrm>
            <a:off x="-28575" y="6976"/>
            <a:ext cx="18288000" cy="10287000"/>
            <a:chOff x="0" y="0"/>
            <a:chExt cx="24384000" cy="13716000"/>
          </a:xfrm>
        </p:grpSpPr>
        <p:sp>
          <p:nvSpPr>
            <p:cNvPr id="3" name="Freeform 3" descr="image.png">
              <a:extLst>
                <a:ext uri="{FF2B5EF4-FFF2-40B4-BE49-F238E27FC236}">
                  <a16:creationId xmlns:a16="http://schemas.microsoft.com/office/drawing/2014/main" id="{F1F8EB26-32AE-EB9F-7DD5-BBF7B92733EE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72833AFA-7C06-6A48-ADF8-9313C8951B5E}"/>
              </a:ext>
            </a:extLst>
          </p:cNvPr>
          <p:cNvGrpSpPr/>
          <p:nvPr/>
        </p:nvGrpSpPr>
        <p:grpSpPr>
          <a:xfrm>
            <a:off x="657225" y="2494376"/>
            <a:ext cx="16973550" cy="3567482"/>
            <a:chOff x="0" y="0"/>
            <a:chExt cx="22098000" cy="1732064"/>
          </a:xfrm>
        </p:grpSpPr>
        <p:sp>
          <p:nvSpPr>
            <p:cNvPr id="5" name="Freeform 5" descr="image.png">
              <a:extLst>
                <a:ext uri="{FF2B5EF4-FFF2-40B4-BE49-F238E27FC236}">
                  <a16:creationId xmlns:a16="http://schemas.microsoft.com/office/drawing/2014/main" id="{026253DE-5ECF-7662-C5B9-8985FD80E861}"/>
                </a:ext>
              </a:extLst>
            </p:cNvPr>
            <p:cNvSpPr/>
            <p:nvPr/>
          </p:nvSpPr>
          <p:spPr>
            <a:xfrm>
              <a:off x="0" y="0"/>
              <a:ext cx="22098000" cy="1732026"/>
            </a:xfrm>
            <a:custGeom>
              <a:avLst/>
              <a:gdLst/>
              <a:ahLst/>
              <a:cxnLst/>
              <a:rect l="l" t="t" r="r" b="b"/>
              <a:pathLst>
                <a:path w="22098000" h="1732026">
                  <a:moveTo>
                    <a:pt x="0" y="0"/>
                  </a:moveTo>
                  <a:lnTo>
                    <a:pt x="22098000" y="0"/>
                  </a:lnTo>
                  <a:lnTo>
                    <a:pt x="22098000" y="1732026"/>
                  </a:lnTo>
                  <a:lnTo>
                    <a:pt x="0" y="17320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1187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5AD2806C-E7B5-7702-93A5-4593B6F51D44}"/>
              </a:ext>
            </a:extLst>
          </p:cNvPr>
          <p:cNvSpPr txBox="1"/>
          <p:nvPr/>
        </p:nvSpPr>
        <p:spPr>
          <a:xfrm>
            <a:off x="857250" y="1302839"/>
            <a:ext cx="17402175" cy="871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演算法實作：DAX 動態皮爾森矩陣</a:t>
            </a: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AD23ABD2-E751-45A6-5C80-5D5DC2A729C0}"/>
              </a:ext>
            </a:extLst>
          </p:cNvPr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3726277-892A-4C77-C54B-A6FC26353252}"/>
                </a:ext>
              </a:extLst>
            </p:cNvPr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1ACFD28A-578F-F058-9A8C-F8EB31917AE3}"/>
              </a:ext>
            </a:extLst>
          </p:cNvPr>
          <p:cNvSpPr txBox="1"/>
          <p:nvPr/>
        </p:nvSpPr>
        <p:spPr>
          <a:xfrm>
            <a:off x="1042988" y="6289548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31CFA0A7-9E55-2FE7-EC1C-E8969142CDF0}"/>
              </a:ext>
            </a:extLst>
          </p:cNvPr>
          <p:cNvSpPr txBox="1"/>
          <p:nvPr/>
        </p:nvSpPr>
        <p:spPr>
          <a:xfrm>
            <a:off x="1209675" y="6165723"/>
            <a:ext cx="16221075" cy="992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50"/>
              </a:lnSpc>
            </a:pPr>
            <a:r>
              <a:rPr lang="en-US" sz="2250" b="1" dirty="0" err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虛擬表</a:t>
            </a:r>
            <a:r>
              <a:rPr lang="en-US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 (SUMMARIZE)</a:t>
            </a: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</a:t>
            </a:r>
            <a:r>
              <a:rPr lang="zh-TW" altLang="zh-TW" sz="2400" dirty="0"/>
              <a:t>利用 </a:t>
            </a:r>
            <a:r>
              <a:rPr lang="zh-TW" altLang="zh-TW" b="1" dirty="0">
                <a:solidFill>
                  <a:schemeClr val="accent2"/>
                </a:solidFill>
              </a:rPr>
              <a:t>ADDCOLUMNS</a:t>
            </a:r>
            <a:r>
              <a:rPr lang="zh-TW" altLang="zh-TW" sz="2400" b="1" dirty="0">
                <a:solidFill>
                  <a:schemeClr val="accent2"/>
                </a:solidFill>
              </a:rPr>
              <a:t> </a:t>
            </a:r>
            <a:r>
              <a:rPr lang="zh-TW" altLang="zh-TW" sz="2400" dirty="0"/>
              <a:t>結合 </a:t>
            </a:r>
            <a:r>
              <a:rPr lang="zh-TW" altLang="zh-TW" b="1" dirty="0">
                <a:solidFill>
                  <a:schemeClr val="accent2"/>
                </a:solidFill>
              </a:rPr>
              <a:t>VALUES</a:t>
            </a:r>
            <a:r>
              <a:rPr lang="zh-TW" altLang="zh-TW" sz="2400" dirty="0"/>
              <a:t> 函數，在記憶體內動態建構執行期臨時表。配合 </a:t>
            </a:r>
            <a:r>
              <a:rPr lang="zh-TW" altLang="zh-TW" b="1" dirty="0">
                <a:solidFill>
                  <a:schemeClr val="accent2"/>
                </a:solidFill>
              </a:rPr>
              <a:t>NOT(ISBLANK)</a:t>
            </a:r>
            <a:r>
              <a:rPr lang="zh-TW" altLang="zh-TW" sz="2400" b="1" dirty="0">
                <a:solidFill>
                  <a:schemeClr val="accent2"/>
                </a:solidFill>
              </a:rPr>
              <a:t> </a:t>
            </a:r>
            <a:r>
              <a:rPr lang="zh-TW" altLang="zh-TW" sz="2400" dirty="0"/>
              <a:t>篩選條件，實時剔除週末美股休市所引發的空值列。</a:t>
            </a:r>
            <a:endParaRPr lang="en-US" sz="2250" dirty="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7769D873-905F-204A-D038-EF66905F6255}"/>
              </a:ext>
            </a:extLst>
          </p:cNvPr>
          <p:cNvSpPr txBox="1"/>
          <p:nvPr/>
        </p:nvSpPr>
        <p:spPr>
          <a:xfrm>
            <a:off x="1014413" y="7451399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5AD2A88F-EC17-C7DE-1A12-FCFC0EAF585B}"/>
              </a:ext>
            </a:extLst>
          </p:cNvPr>
          <p:cNvSpPr txBox="1"/>
          <p:nvPr/>
        </p:nvSpPr>
        <p:spPr>
          <a:xfrm>
            <a:off x="1151988" y="7350141"/>
            <a:ext cx="16221075" cy="998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50"/>
              </a:lnSpc>
            </a:pPr>
            <a:r>
              <a:rPr lang="zh-TW" altLang="en-US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動態協方差分子</a:t>
            </a:r>
            <a:r>
              <a:rPr lang="en-US" altLang="zh-TW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(Numerator)</a:t>
            </a:r>
            <a:r>
              <a:rPr lang="zh-TW" altLang="en-US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：</a:t>
            </a:r>
            <a:r>
              <a:rPr lang="zh-TW" altLang="zh-TW" sz="2400" dirty="0"/>
              <a:t>調用 </a:t>
            </a:r>
            <a:r>
              <a:rPr lang="zh-TW" altLang="zh-TW" b="1" dirty="0">
                <a:solidFill>
                  <a:schemeClr val="accent2"/>
                </a:solidFill>
              </a:rPr>
              <a:t>SUMX</a:t>
            </a:r>
            <a:r>
              <a:rPr lang="zh-TW" altLang="zh-TW" sz="2400" b="1" dirty="0">
                <a:solidFill>
                  <a:schemeClr val="accent2"/>
                </a:solidFill>
              </a:rPr>
              <a:t> </a:t>
            </a:r>
            <a:r>
              <a:rPr lang="zh-TW" altLang="zh-TW" sz="2400" dirty="0"/>
              <a:t>迭代函數進行時間序列的逐日掃描，將單日價格觀測值減去區間算術平均數（</a:t>
            </a:r>
            <a:r>
              <a:rPr lang="zh-TW" altLang="zh-TW" dirty="0"/>
              <a:t>MeanX</a:t>
            </a:r>
            <a:r>
              <a:rPr lang="zh-TW" altLang="zh-TW" sz="2400" dirty="0"/>
              <a:t>, </a:t>
            </a:r>
            <a:r>
              <a:rPr lang="zh-TW" altLang="zh-TW" dirty="0"/>
              <a:t>MeanY</a:t>
            </a:r>
            <a:r>
              <a:rPr lang="zh-TW" altLang="zh-TW" sz="2400" dirty="0"/>
              <a:t>），精確重現皮爾森公式之分子矩陣累加。</a:t>
            </a:r>
            <a:endParaRPr lang="en-US" sz="2250" dirty="0">
              <a:solidFill>
                <a:srgbClr val="334155"/>
              </a:solidFill>
              <a:latin typeface="Arimo" panose="020B0604020202020204" charset="0"/>
              <a:ea typeface="Arimo" panose="020B0604020202020204" charset="0"/>
              <a:cs typeface="Arimo" panose="020B0604020202020204" charset="0"/>
              <a:sym typeface="Arimo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ABB8C69D-3539-E13B-0A25-2C4CE771F07B}"/>
              </a:ext>
            </a:extLst>
          </p:cNvPr>
          <p:cNvSpPr txBox="1"/>
          <p:nvPr/>
        </p:nvSpPr>
        <p:spPr>
          <a:xfrm>
            <a:off x="992982" y="8648849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1237171A-AD80-B54E-442B-E96561543BB8}"/>
              </a:ext>
            </a:extLst>
          </p:cNvPr>
          <p:cNvSpPr txBox="1"/>
          <p:nvPr/>
        </p:nvSpPr>
        <p:spPr>
          <a:xfrm>
            <a:off x="1151988" y="8576540"/>
            <a:ext cx="16221075" cy="992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50"/>
              </a:lnSpc>
            </a:pPr>
            <a:r>
              <a:rPr lang="en-US" sz="2250" b="1" dirty="0" err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安全除法</a:t>
            </a:r>
            <a:r>
              <a:rPr lang="en-US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 (DIVIDE)</a:t>
            </a: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</a:t>
            </a:r>
            <a:r>
              <a:rPr lang="zh-TW" altLang="zh-TW" sz="2400" dirty="0"/>
              <a:t>透過 </a:t>
            </a:r>
            <a:r>
              <a:rPr lang="zh-TW" altLang="zh-TW" b="1" dirty="0">
                <a:solidFill>
                  <a:schemeClr val="accent2"/>
                </a:solidFill>
              </a:rPr>
              <a:t>SQRT</a:t>
            </a:r>
            <a:r>
              <a:rPr lang="zh-TW" altLang="zh-TW" sz="2400" b="1" dirty="0">
                <a:solidFill>
                  <a:schemeClr val="accent2"/>
                </a:solidFill>
              </a:rPr>
              <a:t> </a:t>
            </a:r>
            <a:r>
              <a:rPr lang="zh-TW" altLang="zh-TW" sz="2400" dirty="0"/>
              <a:t>開根號完成分母項的去單位化處理，根除萬級與千級資產的量級失真；最終輸出導入 </a:t>
            </a:r>
            <a:r>
              <a:rPr lang="zh-TW" altLang="zh-TW" b="1" dirty="0">
                <a:solidFill>
                  <a:schemeClr val="accent2"/>
                </a:solidFill>
              </a:rPr>
              <a:t>DIVIDE</a:t>
            </a:r>
            <a:r>
              <a:rPr lang="zh-TW" altLang="zh-TW" sz="2400" dirty="0"/>
              <a:t> 函數，當市場波動歸零時自動攔截異常，確保系統不報錯。</a:t>
            </a:r>
            <a:endParaRPr lang="en-US" sz="2250" dirty="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55ECACA9-47C0-23B8-CD58-A83F3201F8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988" y="2583952"/>
            <a:ext cx="14489547" cy="3316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69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3886200" y="7183600"/>
            <a:ext cx="13430250" cy="571500"/>
            <a:chOff x="0" y="0"/>
            <a:chExt cx="17907000" cy="76200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7907000" cy="762000"/>
            </a:xfrm>
            <a:custGeom>
              <a:avLst/>
              <a:gdLst/>
              <a:ahLst/>
              <a:cxnLst/>
              <a:rect l="l" t="t" r="r" b="b"/>
              <a:pathLst>
                <a:path w="17907000" h="762000">
                  <a:moveTo>
                    <a:pt x="0" y="0"/>
                  </a:moveTo>
                  <a:lnTo>
                    <a:pt x="17907000" y="0"/>
                  </a:lnTo>
                  <a:lnTo>
                    <a:pt x="17907000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500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86200" y="7183600"/>
            <a:ext cx="11734800" cy="571500"/>
            <a:chOff x="0" y="0"/>
            <a:chExt cx="15579026" cy="762000"/>
          </a:xfrm>
        </p:grpSpPr>
        <p:sp>
          <p:nvSpPr>
            <p:cNvPr id="9" name="Freeform 9" descr="image.png"/>
            <p:cNvSpPr/>
            <p:nvPr/>
          </p:nvSpPr>
          <p:spPr>
            <a:xfrm>
              <a:off x="0" y="0"/>
              <a:ext cx="15579089" cy="762000"/>
            </a:xfrm>
            <a:custGeom>
              <a:avLst/>
              <a:gdLst/>
              <a:ahLst/>
              <a:cxnLst/>
              <a:rect l="l" t="t" r="r" b="b"/>
              <a:pathLst>
                <a:path w="15579089" h="762000">
                  <a:moveTo>
                    <a:pt x="0" y="0"/>
                  </a:moveTo>
                  <a:lnTo>
                    <a:pt x="15579089" y="0"/>
                  </a:lnTo>
                  <a:lnTo>
                    <a:pt x="15579089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2474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857250" y="1302839"/>
            <a:ext cx="17402175" cy="871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全週期觀測：資產機構化導致強正相關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pic>
        <p:nvPicPr>
          <p:cNvPr id="22" name="圖片 21">
            <a:extLst>
              <a:ext uri="{FF2B5EF4-FFF2-40B4-BE49-F238E27FC236}">
                <a16:creationId xmlns:a16="http://schemas.microsoft.com/office/drawing/2014/main" id="{69F30113-4F16-77EF-CD0E-9372CF000D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000" y="2574830"/>
            <a:ext cx="7832149" cy="4571682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1271587" y="6507030"/>
            <a:ext cx="16573500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2700" dirty="0" err="1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全週期皮爾森相關係數：</a:t>
            </a:r>
            <a:r>
              <a:rPr lang="en-US" sz="2700" b="1" dirty="0" err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r</a:t>
            </a:r>
            <a:r>
              <a:rPr lang="en-US" sz="270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 = 0.87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57250" y="8971819"/>
            <a:ext cx="1657350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i="1" dirty="0">
                <a:solidFill>
                  <a:srgbClr val="334155"/>
                </a:solidFill>
                <a:latin typeface="Arimo Italics"/>
                <a:ea typeface="Arimo Italics"/>
                <a:cs typeface="Arimo Italics"/>
                <a:sym typeface="Arimo Italics"/>
              </a:rPr>
              <a:t>* </a:t>
            </a:r>
            <a:r>
              <a:rPr lang="en-US" sz="2250" i="1" dirty="0" err="1">
                <a:solidFill>
                  <a:srgbClr val="334155"/>
                </a:solidFill>
                <a:latin typeface="Arimo Italics"/>
                <a:ea typeface="Arimo Italics"/>
                <a:cs typeface="Arimo Italics"/>
                <a:sym typeface="Arimo Italics"/>
              </a:rPr>
              <a:t>數據證明華爾街資本進場後，比特幣與傳統股市已綁定在同一流動性戰車</a:t>
            </a:r>
            <a:r>
              <a:rPr lang="en-US" sz="2250" i="1" dirty="0">
                <a:solidFill>
                  <a:srgbClr val="334155"/>
                </a:solidFill>
                <a:latin typeface="Arimo Italics"/>
                <a:ea typeface="Arimo Italics"/>
                <a:cs typeface="Arimo Italics"/>
                <a:sym typeface="Arimo Italics"/>
              </a:rPr>
              <a:t>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42950" y="7339740"/>
            <a:ext cx="2857500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 b="1" dirty="0" err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全週期</a:t>
            </a:r>
            <a:r>
              <a:rPr lang="en-US" sz="180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 (2023-2026)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501188" y="3373184"/>
            <a:ext cx="7929562" cy="5715000"/>
            <a:chOff x="0" y="0"/>
            <a:chExt cx="10572750" cy="762000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0572750" cy="7620000"/>
            </a:xfrm>
            <a:custGeom>
              <a:avLst/>
              <a:gdLst/>
              <a:ahLst/>
              <a:cxnLst/>
              <a:rect l="l" t="t" r="r" b="b"/>
              <a:pathLst>
                <a:path w="10572750" h="7620000">
                  <a:moveTo>
                    <a:pt x="0" y="0"/>
                  </a:moveTo>
                  <a:lnTo>
                    <a:pt x="10572750" y="0"/>
                  </a:lnTo>
                  <a:lnTo>
                    <a:pt x="10572750" y="7620000"/>
                  </a:lnTo>
                  <a:lnTo>
                    <a:pt x="0" y="7620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250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857250" y="1302839"/>
            <a:ext cx="17402175" cy="871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深度發現：2023 秋季非對稱性脫鉤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857250" y="3754184"/>
            <a:ext cx="8326041" cy="590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動態負相關：r = -0.75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57250" y="4487609"/>
            <a:ext cx="7929562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宏觀利空</a:t>
            </a: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：美債殖利率破 5%，美股標普 500 大重挫。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57250" y="5201983"/>
            <a:ext cx="7929562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產業利多</a:t>
            </a: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：灰度勝訴與 ETF 獲批預期，推升比特幣逆勢噴發。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57250" y="5916359"/>
            <a:ext cx="7929562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結論</a:t>
            </a: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：比特幣避險價值並非失效，而是與「特定事件」掛鉤的動態屬性。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553673C6-3C9B-E5C8-1B24-D85B35D284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241" y="2734412"/>
            <a:ext cx="9390184" cy="607814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857250" y="1302839"/>
            <a:ext cx="17402175" cy="871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開發歷程與版本控制 (Git Record)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857250" y="4230438"/>
          <a:ext cx="16535399" cy="3238500"/>
        </p:xfrm>
        <a:graphic>
          <a:graphicData uri="http://schemas.openxmlformats.org/drawingml/2006/table">
            <a:tbl>
              <a:tblPr/>
              <a:tblGrid>
                <a:gridCol w="2921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53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089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Commit Hash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Date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Action / Feature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9a12b7c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2026-05-15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feat: Connect CoinGecko &amp; Yahoo Finance API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4d8f3e2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2026-05-20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refactor: Build Star Schema with Single Filter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b7c5a19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2026-05-28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feat: Implement Dynamic Pearson r Measure (DAX)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f2e4d61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2026-06-05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style: Optimize Dual-Axis visuals and KPI layout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8"/>
          <p:cNvSpPr txBox="1"/>
          <p:nvPr/>
        </p:nvSpPr>
        <p:spPr>
          <a:xfrm>
            <a:off x="857250" y="7683246"/>
            <a:ext cx="16573500" cy="404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1575">
                <a:solidFill>
                  <a:srgbClr val="94A3B8"/>
                </a:solidFill>
                <a:latin typeface="Arimo"/>
                <a:ea typeface="Arimo"/>
                <a:cs typeface="Arimo"/>
                <a:sym typeface="Arimo"/>
              </a:rPr>
              <a:t>* 以上紀錄為專案開發之版本演進歷程。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857250" y="4830508"/>
            <a:ext cx="2914431" cy="28575"/>
            <a:chOff x="0" y="0"/>
            <a:chExt cx="3885908" cy="381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885946" cy="38100"/>
            </a:xfrm>
            <a:custGeom>
              <a:avLst/>
              <a:gdLst/>
              <a:ahLst/>
              <a:cxnLst/>
              <a:rect l="l" t="t" r="r" b="b"/>
              <a:pathLst>
                <a:path w="3885946" h="38100">
                  <a:moveTo>
                    <a:pt x="0" y="0"/>
                  </a:moveTo>
                  <a:lnTo>
                    <a:pt x="3885946" y="0"/>
                  </a:lnTo>
                  <a:lnTo>
                    <a:pt x="3885946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771681" y="4830508"/>
            <a:ext cx="2696985" cy="28575"/>
            <a:chOff x="0" y="0"/>
            <a:chExt cx="3595980" cy="381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596005" cy="38100"/>
            </a:xfrm>
            <a:custGeom>
              <a:avLst/>
              <a:gdLst/>
              <a:ahLst/>
              <a:cxnLst/>
              <a:rect l="l" t="t" r="r" b="b"/>
              <a:pathLst>
                <a:path w="3596005" h="38100">
                  <a:moveTo>
                    <a:pt x="0" y="0"/>
                  </a:moveTo>
                  <a:lnTo>
                    <a:pt x="3596005" y="0"/>
                  </a:lnTo>
                  <a:lnTo>
                    <a:pt x="3596005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468666" y="4830508"/>
            <a:ext cx="10962084" cy="28575"/>
            <a:chOff x="0" y="0"/>
            <a:chExt cx="14616112" cy="381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16049" cy="38100"/>
            </a:xfrm>
            <a:custGeom>
              <a:avLst/>
              <a:gdLst/>
              <a:ahLst/>
              <a:cxnLst/>
              <a:rect l="l" t="t" r="r" b="b"/>
              <a:pathLst>
                <a:path w="14616049" h="38100">
                  <a:moveTo>
                    <a:pt x="0" y="0"/>
                  </a:moveTo>
                  <a:lnTo>
                    <a:pt x="14616049" y="0"/>
                  </a:lnTo>
                  <a:lnTo>
                    <a:pt x="14616049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857250" y="5509174"/>
            <a:ext cx="2914431" cy="14288"/>
            <a:chOff x="0" y="0"/>
            <a:chExt cx="3885908" cy="1905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85946" cy="19050"/>
            </a:xfrm>
            <a:custGeom>
              <a:avLst/>
              <a:gdLst/>
              <a:ahLst/>
              <a:cxnLst/>
              <a:rect l="l" t="t" r="r" b="b"/>
              <a:pathLst>
                <a:path w="3885946" h="19050">
                  <a:moveTo>
                    <a:pt x="0" y="0"/>
                  </a:moveTo>
                  <a:lnTo>
                    <a:pt x="3885946" y="0"/>
                  </a:lnTo>
                  <a:lnTo>
                    <a:pt x="388594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3771681" y="5509174"/>
            <a:ext cx="2696985" cy="14288"/>
            <a:chOff x="0" y="0"/>
            <a:chExt cx="3595980" cy="1905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596005" cy="19050"/>
            </a:xfrm>
            <a:custGeom>
              <a:avLst/>
              <a:gdLst/>
              <a:ahLst/>
              <a:cxnLst/>
              <a:rect l="l" t="t" r="r" b="b"/>
              <a:pathLst>
                <a:path w="3596005" h="19050">
                  <a:moveTo>
                    <a:pt x="0" y="0"/>
                  </a:moveTo>
                  <a:lnTo>
                    <a:pt x="3596005" y="0"/>
                  </a:lnTo>
                  <a:lnTo>
                    <a:pt x="3596005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468666" y="5509174"/>
            <a:ext cx="10962084" cy="14288"/>
            <a:chOff x="0" y="0"/>
            <a:chExt cx="14616112" cy="1905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4616049" cy="19050"/>
            </a:xfrm>
            <a:custGeom>
              <a:avLst/>
              <a:gdLst/>
              <a:ahLst/>
              <a:cxnLst/>
              <a:rect l="l" t="t" r="r" b="b"/>
              <a:pathLst>
                <a:path w="14616049" h="19050">
                  <a:moveTo>
                    <a:pt x="0" y="0"/>
                  </a:moveTo>
                  <a:lnTo>
                    <a:pt x="14616049" y="0"/>
                  </a:lnTo>
                  <a:lnTo>
                    <a:pt x="1461604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857250" y="6166399"/>
            <a:ext cx="2914431" cy="14288"/>
            <a:chOff x="0" y="0"/>
            <a:chExt cx="3885908" cy="1905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885946" cy="19050"/>
            </a:xfrm>
            <a:custGeom>
              <a:avLst/>
              <a:gdLst/>
              <a:ahLst/>
              <a:cxnLst/>
              <a:rect l="l" t="t" r="r" b="b"/>
              <a:pathLst>
                <a:path w="3885946" h="19050">
                  <a:moveTo>
                    <a:pt x="0" y="0"/>
                  </a:moveTo>
                  <a:lnTo>
                    <a:pt x="3885946" y="0"/>
                  </a:lnTo>
                  <a:lnTo>
                    <a:pt x="388594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771681" y="6166399"/>
            <a:ext cx="2696985" cy="14288"/>
            <a:chOff x="0" y="0"/>
            <a:chExt cx="3595980" cy="1905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596005" cy="19050"/>
            </a:xfrm>
            <a:custGeom>
              <a:avLst/>
              <a:gdLst/>
              <a:ahLst/>
              <a:cxnLst/>
              <a:rect l="l" t="t" r="r" b="b"/>
              <a:pathLst>
                <a:path w="3596005" h="19050">
                  <a:moveTo>
                    <a:pt x="0" y="0"/>
                  </a:moveTo>
                  <a:lnTo>
                    <a:pt x="3596005" y="0"/>
                  </a:lnTo>
                  <a:lnTo>
                    <a:pt x="3596005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468666" y="6166399"/>
            <a:ext cx="10962084" cy="14288"/>
            <a:chOff x="0" y="0"/>
            <a:chExt cx="14616112" cy="1905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4616049" cy="19050"/>
            </a:xfrm>
            <a:custGeom>
              <a:avLst/>
              <a:gdLst/>
              <a:ahLst/>
              <a:cxnLst/>
              <a:rect l="l" t="t" r="r" b="b"/>
              <a:pathLst>
                <a:path w="14616049" h="19050">
                  <a:moveTo>
                    <a:pt x="0" y="0"/>
                  </a:moveTo>
                  <a:lnTo>
                    <a:pt x="14616049" y="0"/>
                  </a:lnTo>
                  <a:lnTo>
                    <a:pt x="1461604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57250" y="6823624"/>
            <a:ext cx="2914431" cy="14288"/>
            <a:chOff x="0" y="0"/>
            <a:chExt cx="3885908" cy="1905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885946" cy="19050"/>
            </a:xfrm>
            <a:custGeom>
              <a:avLst/>
              <a:gdLst/>
              <a:ahLst/>
              <a:cxnLst/>
              <a:rect l="l" t="t" r="r" b="b"/>
              <a:pathLst>
                <a:path w="3885946" h="19050">
                  <a:moveTo>
                    <a:pt x="0" y="0"/>
                  </a:moveTo>
                  <a:lnTo>
                    <a:pt x="3885946" y="0"/>
                  </a:lnTo>
                  <a:lnTo>
                    <a:pt x="388594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3771681" y="6823624"/>
            <a:ext cx="2696985" cy="14288"/>
            <a:chOff x="0" y="0"/>
            <a:chExt cx="3595980" cy="1905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596005" cy="19050"/>
            </a:xfrm>
            <a:custGeom>
              <a:avLst/>
              <a:gdLst/>
              <a:ahLst/>
              <a:cxnLst/>
              <a:rect l="l" t="t" r="r" b="b"/>
              <a:pathLst>
                <a:path w="3596005" h="19050">
                  <a:moveTo>
                    <a:pt x="0" y="0"/>
                  </a:moveTo>
                  <a:lnTo>
                    <a:pt x="3596005" y="0"/>
                  </a:lnTo>
                  <a:lnTo>
                    <a:pt x="3596005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468666" y="6823624"/>
            <a:ext cx="10962084" cy="14288"/>
            <a:chOff x="0" y="0"/>
            <a:chExt cx="14616112" cy="1905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4616049" cy="19050"/>
            </a:xfrm>
            <a:custGeom>
              <a:avLst/>
              <a:gdLst/>
              <a:ahLst/>
              <a:cxnLst/>
              <a:rect l="l" t="t" r="r" b="b"/>
              <a:pathLst>
                <a:path w="14616049" h="19050">
                  <a:moveTo>
                    <a:pt x="0" y="0"/>
                  </a:moveTo>
                  <a:lnTo>
                    <a:pt x="14616049" y="0"/>
                  </a:lnTo>
                  <a:lnTo>
                    <a:pt x="1461604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57250" y="7480849"/>
            <a:ext cx="2914431" cy="14288"/>
            <a:chOff x="0" y="0"/>
            <a:chExt cx="3885908" cy="1905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3885946" cy="19050"/>
            </a:xfrm>
            <a:custGeom>
              <a:avLst/>
              <a:gdLst/>
              <a:ahLst/>
              <a:cxnLst/>
              <a:rect l="l" t="t" r="r" b="b"/>
              <a:pathLst>
                <a:path w="3885946" h="19050">
                  <a:moveTo>
                    <a:pt x="0" y="0"/>
                  </a:moveTo>
                  <a:lnTo>
                    <a:pt x="3885946" y="0"/>
                  </a:lnTo>
                  <a:lnTo>
                    <a:pt x="388594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3771681" y="7480849"/>
            <a:ext cx="2696985" cy="14288"/>
            <a:chOff x="0" y="0"/>
            <a:chExt cx="3595980" cy="1905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3596005" cy="19050"/>
            </a:xfrm>
            <a:custGeom>
              <a:avLst/>
              <a:gdLst/>
              <a:ahLst/>
              <a:cxnLst/>
              <a:rect l="l" t="t" r="r" b="b"/>
              <a:pathLst>
                <a:path w="3596005" h="19050">
                  <a:moveTo>
                    <a:pt x="0" y="0"/>
                  </a:moveTo>
                  <a:lnTo>
                    <a:pt x="3596005" y="0"/>
                  </a:lnTo>
                  <a:lnTo>
                    <a:pt x="3596005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468666" y="7480849"/>
            <a:ext cx="10962084" cy="14288"/>
            <a:chOff x="0" y="0"/>
            <a:chExt cx="14616112" cy="1905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4616049" cy="19050"/>
            </a:xfrm>
            <a:custGeom>
              <a:avLst/>
              <a:gdLst/>
              <a:ahLst/>
              <a:cxnLst/>
              <a:rect l="l" t="t" r="r" b="b"/>
              <a:pathLst>
                <a:path w="14616049" h="19050">
                  <a:moveTo>
                    <a:pt x="0" y="0"/>
                  </a:moveTo>
                  <a:lnTo>
                    <a:pt x="14616049" y="0"/>
                  </a:lnTo>
                  <a:lnTo>
                    <a:pt x="1461604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6400800" y="3396404"/>
            <a:ext cx="5757510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zh-TW" altLang="en-US" sz="90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報告結束</a:t>
            </a:r>
            <a:endParaRPr lang="en-US" sz="9000" b="1" dirty="0">
              <a:solidFill>
                <a:srgbClr val="1E293B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6743700" y="5231902"/>
            <a:ext cx="4800600" cy="550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60"/>
              </a:lnSpc>
            </a:pPr>
            <a:r>
              <a:rPr lang="en-US" sz="2700" dirty="0" err="1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感謝各位的聆聽</a:t>
            </a:r>
            <a:endParaRPr lang="en-US" sz="2700" dirty="0">
              <a:solidFill>
                <a:srgbClr val="64748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4907756" y="6462116"/>
            <a:ext cx="8472488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</a:pP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112111207 陳品霖 | Power BI Financial Analytics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857250" y="1302839"/>
            <a:ext cx="17402175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Image Sources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857250" y="2260102"/>
            <a:ext cx="16573500" cy="14288"/>
            <a:chOff x="0" y="0"/>
            <a:chExt cx="22098000" cy="1905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57250" y="5423449"/>
            <a:ext cx="16573500" cy="14288"/>
            <a:chOff x="0" y="0"/>
            <a:chExt cx="22098000" cy="190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757575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57250" y="5423449"/>
            <a:ext cx="16573500" cy="14288"/>
            <a:chOff x="0" y="0"/>
            <a:chExt cx="22098000" cy="1905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757575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57250" y="6580737"/>
            <a:ext cx="16573500" cy="14288"/>
            <a:chOff x="0" y="0"/>
            <a:chExt cx="22098000" cy="190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757575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857250" y="6580737"/>
            <a:ext cx="16573500" cy="14288"/>
            <a:chOff x="0" y="0"/>
            <a:chExt cx="22098000" cy="1905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757575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857250" y="4494762"/>
            <a:ext cx="1285875" cy="714375"/>
            <a:chOff x="0" y="0"/>
            <a:chExt cx="1714500" cy="952500"/>
          </a:xfrm>
        </p:grpSpPr>
        <p:sp>
          <p:nvSpPr>
            <p:cNvPr id="16" name="Freeform 16" descr="image.png"/>
            <p:cNvSpPr/>
            <p:nvPr/>
          </p:nvSpPr>
          <p:spPr>
            <a:xfrm>
              <a:off x="0" y="0"/>
              <a:ext cx="1714500" cy="952500"/>
            </a:xfrm>
            <a:custGeom>
              <a:avLst/>
              <a:gdLst/>
              <a:ahLst/>
              <a:cxnLst/>
              <a:rect l="l" t="t" r="r" b="b"/>
              <a:pathLst>
                <a:path w="1714500" h="952500">
                  <a:moveTo>
                    <a:pt x="0" y="0"/>
                  </a:moveTo>
                  <a:lnTo>
                    <a:pt x="1714500" y="0"/>
                  </a:lnTo>
                  <a:lnTo>
                    <a:pt x="1714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2000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2500312" y="4410227"/>
            <a:ext cx="14930438" cy="373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1"/>
              </a:lnSpc>
            </a:pPr>
            <a:r>
              <a:rPr lang="en-US" sz="1462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https://d2r1j6ikuh5sl8.cloudfront.net/blog-images/unlocking-market-insights-discover-the-best-android-stock-widget-in-2025-xhx5Im5s-mSB.webp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500312" y="4731696"/>
            <a:ext cx="14930438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180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Source: </a:t>
            </a:r>
            <a:r>
              <a:rPr lang="en-US" sz="1800">
                <a:solidFill>
                  <a:srgbClr val="4F46E5"/>
                </a:solidFill>
                <a:latin typeface="Arimo"/>
                <a:ea typeface="Arimo"/>
                <a:cs typeface="Arimo"/>
                <a:sym typeface="Arimo"/>
              </a:rPr>
              <a:t>widgetopia.io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857250" y="5652049"/>
            <a:ext cx="1285875" cy="714375"/>
            <a:chOff x="0" y="0"/>
            <a:chExt cx="1714500" cy="952500"/>
          </a:xfrm>
        </p:grpSpPr>
        <p:sp>
          <p:nvSpPr>
            <p:cNvPr id="20" name="Freeform 20" descr="image.png"/>
            <p:cNvSpPr/>
            <p:nvPr/>
          </p:nvSpPr>
          <p:spPr>
            <a:xfrm>
              <a:off x="0" y="0"/>
              <a:ext cx="1714500" cy="952500"/>
            </a:xfrm>
            <a:custGeom>
              <a:avLst/>
              <a:gdLst/>
              <a:ahLst/>
              <a:cxnLst/>
              <a:rect l="l" t="t" r="r" b="b"/>
              <a:pathLst>
                <a:path w="1714500" h="952500">
                  <a:moveTo>
                    <a:pt x="0" y="0"/>
                  </a:moveTo>
                  <a:lnTo>
                    <a:pt x="1714500" y="0"/>
                  </a:lnTo>
                  <a:lnTo>
                    <a:pt x="1714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2000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2500312" y="5567515"/>
            <a:ext cx="14930438" cy="373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1"/>
              </a:lnSpc>
            </a:pPr>
            <a:r>
              <a:rPr lang="en-US" sz="1462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https://diagram-generator.com/_next/image?url=%2Fassets%2Fstyles%2Fcorporate-clean.webp&amp;w=1536&amp;q=50&amp;dpl=dpl_Cp4fcsC7vy89q5t4VgGLV7Hiudh7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500312" y="5888984"/>
            <a:ext cx="14930438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180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Source: </a:t>
            </a:r>
            <a:r>
              <a:rPr lang="en-US" sz="1800">
                <a:solidFill>
                  <a:srgbClr val="4F46E5"/>
                </a:solidFill>
                <a:latin typeface="Arimo"/>
                <a:ea typeface="Arimo"/>
                <a:cs typeface="Arimo"/>
                <a:sym typeface="Arimo"/>
              </a:rPr>
              <a:t>diagram-generator.com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857250" y="6937924"/>
            <a:ext cx="1285875" cy="714375"/>
            <a:chOff x="0" y="0"/>
            <a:chExt cx="1714500" cy="952500"/>
          </a:xfrm>
        </p:grpSpPr>
        <p:sp>
          <p:nvSpPr>
            <p:cNvPr id="24" name="Freeform 24" descr="image.png"/>
            <p:cNvSpPr/>
            <p:nvPr/>
          </p:nvSpPr>
          <p:spPr>
            <a:xfrm>
              <a:off x="0" y="0"/>
              <a:ext cx="1714500" cy="952500"/>
            </a:xfrm>
            <a:custGeom>
              <a:avLst/>
              <a:gdLst/>
              <a:ahLst/>
              <a:cxnLst/>
              <a:rect l="l" t="t" r="r" b="b"/>
              <a:pathLst>
                <a:path w="1714500" h="952500">
                  <a:moveTo>
                    <a:pt x="0" y="0"/>
                  </a:moveTo>
                  <a:lnTo>
                    <a:pt x="1714500" y="0"/>
                  </a:lnTo>
                  <a:lnTo>
                    <a:pt x="1714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-2000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2500312" y="6714087"/>
            <a:ext cx="14930438" cy="652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1"/>
              </a:lnSpc>
            </a:pPr>
            <a:r>
              <a:rPr lang="en-US" sz="1462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https://static.vecteezy.com/system/resources/thumbnails/069/008/418/small_2x/up-and-down-arrow-icons-in-green-and-red-with-percentage-and-dollar-symbols-representing-financial-growth-decline-interest-rates-currency-changes-and-market-trends-vector.jpg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500312" y="7314162"/>
            <a:ext cx="14930438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180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Source: </a:t>
            </a:r>
            <a:r>
              <a:rPr lang="en-US" sz="1800">
                <a:solidFill>
                  <a:srgbClr val="4F46E5"/>
                </a:solidFill>
                <a:latin typeface="Arimo"/>
                <a:ea typeface="Arimo"/>
                <a:cs typeface="Arimo"/>
                <a:sym typeface="Arimo"/>
              </a:rPr>
              <a:t>www.vecteezy.com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630</Words>
  <Application>Microsoft Office PowerPoint</Application>
  <PresentationFormat>自訂</PresentationFormat>
  <Paragraphs>131</Paragraphs>
  <Slides>13</Slides>
  <Notes>13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0" baseType="lpstr">
      <vt:lpstr>Arimo</vt:lpstr>
      <vt:lpstr>Calibri</vt:lpstr>
      <vt:lpstr>Arimo Bold</vt:lpstr>
      <vt:lpstr>Arial</vt:lpstr>
      <vt:lpstr>Cambria Math</vt:lpstr>
      <vt:lpstr>Arimo Italics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數位資產與金融指數動態關聯研究.pptx</dc:title>
  <cp:lastModifiedBy>品霖 陳</cp:lastModifiedBy>
  <cp:revision>6</cp:revision>
  <dcterms:created xsi:type="dcterms:W3CDTF">2006-08-16T00:00:00Z</dcterms:created>
  <dcterms:modified xsi:type="dcterms:W3CDTF">2026-06-13T17:43:56Z</dcterms:modified>
  <dc:identifier>DAHMdhCu64M</dc:identifier>
</cp:coreProperties>
</file>