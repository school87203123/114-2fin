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9" r:id="rId9"/>
    <p:sldId id="264" r:id="rId10"/>
    <p:sldId id="265" r:id="rId11"/>
    <p:sldId id="270" r:id="rId12"/>
    <p:sldId id="266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Arimo Italics" panose="020B0604020202020204" charset="0"/>
      <p:regular r:id="rId17"/>
    </p:embeddedFont>
    <p:embeddedFont>
      <p:font typeface="Cambria Math" panose="02040503050406030204" pitchFamily="18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6B2DA-DD7A-4D37-A974-E878BD62707E}" v="15" dt="2026-06-14T21:26:19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品霖 陳" userId="5ef9ed508cbbf1ec" providerId="LiveId" clId="{5EA5911F-D3CC-464D-872A-55AFC748B5BC}"/>
    <pc:docChg chg="undo custSel addSld delSld modSld">
      <pc:chgData name="品霖 陳" userId="5ef9ed508cbbf1ec" providerId="LiveId" clId="{5EA5911F-D3CC-464D-872A-55AFC748B5BC}" dt="2026-06-14T21:47:44.654" v="248" actId="47"/>
      <pc:docMkLst>
        <pc:docMk/>
      </pc:docMkLst>
      <pc:sldChg chg="modSp mod">
        <pc:chgData name="品霖 陳" userId="5ef9ed508cbbf1ec" providerId="LiveId" clId="{5EA5911F-D3CC-464D-872A-55AFC748B5BC}" dt="2026-06-14T20:55:39.293" v="1" actId="1076"/>
        <pc:sldMkLst>
          <pc:docMk/>
          <pc:sldMk cId="0" sldId="256"/>
        </pc:sldMkLst>
        <pc:grpChg chg="mod">
          <ac:chgData name="品霖 陳" userId="5ef9ed508cbbf1ec" providerId="LiveId" clId="{5EA5911F-D3CC-464D-872A-55AFC748B5BC}" dt="2026-06-14T20:55:39.293" v="1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 mod">
        <pc:chgData name="品霖 陳" userId="5ef9ed508cbbf1ec" providerId="LiveId" clId="{5EA5911F-D3CC-464D-872A-55AFC748B5BC}" dt="2026-06-14T21:26:47.184" v="236" actId="20577"/>
        <pc:sldMkLst>
          <pc:docMk/>
          <pc:sldMk cId="0" sldId="262"/>
        </pc:sldMkLst>
        <pc:spChg chg="mod">
          <ac:chgData name="品霖 陳" userId="5ef9ed508cbbf1ec" providerId="LiveId" clId="{5EA5911F-D3CC-464D-872A-55AFC748B5BC}" dt="2026-06-14T21:26:47.184" v="236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品霖 陳" userId="5ef9ed508cbbf1ec" providerId="LiveId" clId="{5EA5911F-D3CC-464D-872A-55AFC748B5BC}" dt="2026-06-14T21:26:16.234" v="204"/>
          <ac:spMkLst>
            <pc:docMk/>
            <pc:sldMk cId="0" sldId="262"/>
            <ac:spMk id="16" creationId="{00000000-0000-0000-0000-000000000000}"/>
          </ac:spMkLst>
        </pc:spChg>
      </pc:sldChg>
      <pc:sldChg chg="add del">
        <pc:chgData name="品霖 陳" userId="5ef9ed508cbbf1ec" providerId="LiveId" clId="{5EA5911F-D3CC-464D-872A-55AFC748B5BC}" dt="2026-06-14T21:47:44.654" v="248" actId="47"/>
        <pc:sldMkLst>
          <pc:docMk/>
          <pc:sldMk cId="0" sldId="263"/>
        </pc:sldMkLst>
      </pc:sldChg>
      <pc:sldChg chg="modSp mod">
        <pc:chgData name="品霖 陳" userId="5ef9ed508cbbf1ec" providerId="LiveId" clId="{5EA5911F-D3CC-464D-872A-55AFC748B5BC}" dt="2026-06-14T21:28:14.130" v="247" actId="1076"/>
        <pc:sldMkLst>
          <pc:docMk/>
          <pc:sldMk cId="0" sldId="264"/>
        </pc:sldMkLst>
        <pc:spChg chg="mod">
          <ac:chgData name="品霖 陳" userId="5ef9ed508cbbf1ec" providerId="LiveId" clId="{5EA5911F-D3CC-464D-872A-55AFC748B5BC}" dt="2026-06-14T21:28:14.130" v="247" actId="1076"/>
          <ac:spMkLst>
            <pc:docMk/>
            <pc:sldMk cId="0" sldId="264"/>
            <ac:spMk id="12" creationId="{00000000-0000-0000-0000-000000000000}"/>
          </ac:spMkLst>
        </pc:spChg>
      </pc:sldChg>
      <pc:sldChg chg="del">
        <pc:chgData name="品霖 陳" userId="5ef9ed508cbbf1ec" providerId="LiveId" clId="{5EA5911F-D3CC-464D-872A-55AFC748B5BC}" dt="2026-06-14T20:55:59.703" v="2" actId="47"/>
        <pc:sldMkLst>
          <pc:docMk/>
          <pc:sldMk cId="0" sldId="267"/>
        </pc:sldMkLst>
      </pc:sldChg>
      <pc:sldChg chg="addSp delSp modSp add mod">
        <pc:chgData name="品霖 陳" userId="5ef9ed508cbbf1ec" providerId="LiveId" clId="{5EA5911F-D3CC-464D-872A-55AFC748B5BC}" dt="2026-06-14T21:00:44.400" v="200" actId="1076"/>
        <pc:sldMkLst>
          <pc:docMk/>
          <pc:sldMk cId="11952152" sldId="270"/>
        </pc:sldMkLst>
        <pc:spChg chg="mod">
          <ac:chgData name="品霖 陳" userId="5ef9ed508cbbf1ec" providerId="LiveId" clId="{5EA5911F-D3CC-464D-872A-55AFC748B5BC}" dt="2026-06-14T20:56:29.677" v="22" actId="1076"/>
          <ac:spMkLst>
            <pc:docMk/>
            <pc:sldMk cId="11952152" sldId="270"/>
            <ac:spMk id="3" creationId="{55199EFE-FC83-24AA-0CB3-CAF05F57A95E}"/>
          </ac:spMkLst>
        </pc:spChg>
        <pc:spChg chg="mod">
          <ac:chgData name="品霖 陳" userId="5ef9ed508cbbf1ec" providerId="LiveId" clId="{5EA5911F-D3CC-464D-872A-55AFC748B5BC}" dt="2026-06-14T20:56:30.972" v="23" actId="20577"/>
          <ac:spMkLst>
            <pc:docMk/>
            <pc:sldMk cId="11952152" sldId="270"/>
            <ac:spMk id="6" creationId="{D28AEFC6-E73D-8F67-03AF-A45400B75261}"/>
          </ac:spMkLst>
        </pc:spChg>
        <pc:spChg chg="mod">
          <ac:chgData name="品霖 陳" userId="5ef9ed508cbbf1ec" providerId="LiveId" clId="{5EA5911F-D3CC-464D-872A-55AFC748B5BC}" dt="2026-06-14T20:58:07.573" v="79" actId="20577"/>
          <ac:spMkLst>
            <pc:docMk/>
            <pc:sldMk cId="11952152" sldId="270"/>
            <ac:spMk id="9" creationId="{81F27BE9-F59C-C5C2-9A82-DE155662355E}"/>
          </ac:spMkLst>
        </pc:spChg>
        <pc:spChg chg="mod">
          <ac:chgData name="品霖 陳" userId="5ef9ed508cbbf1ec" providerId="LiveId" clId="{5EA5911F-D3CC-464D-872A-55AFC748B5BC}" dt="2026-06-14T20:58:57.894" v="95" actId="403"/>
          <ac:spMkLst>
            <pc:docMk/>
            <pc:sldMk cId="11952152" sldId="270"/>
            <ac:spMk id="10" creationId="{25BC6185-3162-C929-F7E2-FF2FB9C1386D}"/>
          </ac:spMkLst>
        </pc:spChg>
        <pc:spChg chg="del">
          <ac:chgData name="品霖 陳" userId="5ef9ed508cbbf1ec" providerId="LiveId" clId="{5EA5911F-D3CC-464D-872A-55AFC748B5BC}" dt="2026-06-14T20:56:20.267" v="16" actId="478"/>
          <ac:spMkLst>
            <pc:docMk/>
            <pc:sldMk cId="11952152" sldId="270"/>
            <ac:spMk id="11" creationId="{BAE4BE70-BFC4-3080-0CF5-89FA97AB3A87}"/>
          </ac:spMkLst>
        </pc:spChg>
        <pc:spChg chg="del mod">
          <ac:chgData name="品霖 陳" userId="5ef9ed508cbbf1ec" providerId="LiveId" clId="{5EA5911F-D3CC-464D-872A-55AFC748B5BC}" dt="2026-06-14T20:56:20.269" v="18"/>
          <ac:spMkLst>
            <pc:docMk/>
            <pc:sldMk cId="11952152" sldId="270"/>
            <ac:spMk id="12" creationId="{FA02AAF4-26A5-C97B-DF06-30ECFEDFF26D}"/>
          </ac:spMkLst>
        </pc:spChg>
        <pc:spChg chg="add mod">
          <ac:chgData name="品霖 陳" userId="5ef9ed508cbbf1ec" providerId="LiveId" clId="{5EA5911F-D3CC-464D-872A-55AFC748B5BC}" dt="2026-06-14T21:00:44.400" v="200" actId="1076"/>
          <ac:spMkLst>
            <pc:docMk/>
            <pc:sldMk cId="11952152" sldId="270"/>
            <ac:spMk id="13" creationId="{7A28F22F-8EEB-20B5-1A87-87EEF6B353C3}"/>
          </ac:spMkLst>
        </pc:spChg>
        <pc:spChg chg="add mod">
          <ac:chgData name="品霖 陳" userId="5ef9ed508cbbf1ec" providerId="LiveId" clId="{5EA5911F-D3CC-464D-872A-55AFC748B5BC}" dt="2026-06-14T21:00:37.225" v="199" actId="20577"/>
          <ac:spMkLst>
            <pc:docMk/>
            <pc:sldMk cId="11952152" sldId="270"/>
            <ac:spMk id="14" creationId="{44FFCA83-24C8-557A-77DB-C2CE471C63D2}"/>
          </ac:spMkLst>
        </pc:spChg>
        <pc:grpChg chg="del">
          <ac:chgData name="品霖 陳" userId="5ef9ed508cbbf1ec" providerId="LiveId" clId="{5EA5911F-D3CC-464D-872A-55AFC748B5BC}" dt="2026-06-14T20:56:24.648" v="20" actId="478"/>
          <ac:grpSpMkLst>
            <pc:docMk/>
            <pc:sldMk cId="11952152" sldId="270"/>
            <ac:grpSpMk id="4" creationId="{E556ACAF-B6DD-B4F6-8829-4D603DDC8995}"/>
          </ac:grpSpMkLst>
        </pc:grpChg>
        <pc:picChg chg="del">
          <ac:chgData name="品霖 陳" userId="5ef9ed508cbbf1ec" providerId="LiveId" clId="{5EA5911F-D3CC-464D-872A-55AFC748B5BC}" dt="2026-06-14T20:56:15.915" v="14" actId="478"/>
          <ac:picMkLst>
            <pc:docMk/>
            <pc:sldMk cId="11952152" sldId="270"/>
            <ac:picMk id="17" creationId="{EA1CB6D0-A675-77A5-BECD-A59B15F437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47205-A968-88B7-C864-7BF43AD8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4526B3-076A-8583-2DBD-B433897D3C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1021D-6BEA-9FD6-1658-0AA9247200E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026CD55-1AE3-888B-27F7-FCEB10D36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2EBB4D-1A1A-F04F-7454-83829A374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5D74-2036-4EC0-8D47-2DCE8481CC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3CC6D-110C-41E4-9295-BB0B92D56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877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491B-1D60-8735-A4EE-6DA931FB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908101-7C9C-04BB-CBA2-C831D2A4F2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93BC2-37F7-870D-7456-5886851BD8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074B545-4B48-77AF-3BA6-FEC900BE3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E59739-23B7-47EF-7D7D-8842CAA26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621FC-F61A-E5F3-E43D-5E632C9CE9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15899-2D41-B1AA-2D3F-52134DB75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20267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2912" y="2606573"/>
            <a:ext cx="174021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數位資產與金融指數之動態關聯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4292498"/>
            <a:ext cx="165735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31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基於 Power BI 之比特幣與標普 500 量化觀測系統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072438" y="5949848"/>
            <a:ext cx="2143125" cy="28575"/>
            <a:chOff x="0" y="0"/>
            <a:chExt cx="2857500" cy="38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7500" cy="38100"/>
            </a:xfrm>
            <a:custGeom>
              <a:avLst/>
              <a:gdLst/>
              <a:ahLst/>
              <a:cxnLst/>
              <a:rect l="l" t="t" r="r" b="b"/>
              <a:pathLst>
                <a:path w="2857500" h="38100">
                  <a:moveTo>
                    <a:pt x="0" y="0"/>
                  </a:moveTo>
                  <a:lnTo>
                    <a:pt x="2857500" y="0"/>
                  </a:lnTo>
                  <a:lnTo>
                    <a:pt x="2857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7250" y="6711848"/>
            <a:ext cx="16573500" cy="62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247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學生：陳品霖 (112111207)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7611961"/>
            <a:ext cx="1657350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商業智慧 期末研究報告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01188" y="3373184"/>
            <a:ext cx="7929562" cy="5715000"/>
            <a:chOff x="0" y="0"/>
            <a:chExt cx="1057275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620000"/>
            </a:xfrm>
            <a:custGeom>
              <a:avLst/>
              <a:gdLst/>
              <a:ahLst/>
              <a:cxnLst/>
              <a:rect l="l" t="t" r="r" b="b"/>
              <a:pathLst>
                <a:path w="10572750" h="762000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7250" y="1302839"/>
            <a:ext cx="1740217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2024 機構化元年：研究動機與背景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17959" y="2688391"/>
            <a:ext cx="832604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資產屬性的轉變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7959" y="3469441"/>
            <a:ext cx="7929562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結構性突破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：歷史轉折點：2024 年 1 月美國 SEC 正式批准「比特幣現貨 ETF」，傳統華爾街巨頭（如 BlackRock、Fidelity）資金合法合規流入。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7959" y="5088355"/>
            <a:ext cx="7929562" cy="357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屬性爭議（研究動機）：</a:t>
            </a:r>
          </a:p>
          <a:p>
            <a:pPr marL="485775" lvl="1" indent="-242888" algn="l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傳統觀點：比特幣是獨立於體制外的「數位黃金」，具備抗通膨、與股市低相關的避險屬性。</a:t>
            </a:r>
          </a:p>
          <a:p>
            <a:pPr marL="485775" lvl="1" indent="-242888" algn="l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機構化現況：當大量機構資金將比特幣納入標準資產配置，它是否已被「美股化」，演變成高 Beta 的流動性敏感資產？</a:t>
            </a:r>
          </a:p>
          <a:p>
            <a:pPr algn="l">
              <a:lnSpc>
                <a:spcPts val="4050"/>
              </a:lnSpc>
            </a:pPr>
            <a:endParaRPr lang="en-US" sz="225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7959" y="8336380"/>
            <a:ext cx="7929562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研究目的：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利用 Power BI 建立動態觀測系統，實時量化兩者關聯性，作為資產配置的決策輔助。</a:t>
            </a:r>
          </a:p>
          <a:p>
            <a:pPr algn="l">
              <a:lnSpc>
                <a:spcPts val="4050"/>
              </a:lnSpc>
            </a:pPr>
            <a:endParaRPr lang="en-US" sz="225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050"/>
              </a:lnSpc>
            </a:pPr>
            <a:endParaRPr lang="en-US" sz="225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515475" y="3387471"/>
            <a:ext cx="7900988" cy="5686425"/>
            <a:chOff x="0" y="0"/>
            <a:chExt cx="10534650" cy="75819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10534650" cy="7581900"/>
            </a:xfrm>
            <a:custGeom>
              <a:avLst/>
              <a:gdLst/>
              <a:ahLst/>
              <a:cxnLst/>
              <a:rect l="l" t="t" r="r" b="b"/>
              <a:pathLst>
                <a:path w="10534650" h="758190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9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186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4666212"/>
            <a:ext cx="5333924" cy="3128962"/>
            <a:chOff x="0" y="0"/>
            <a:chExt cx="7111898" cy="41719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111873" cy="4171950"/>
            </a:xfrm>
            <a:custGeom>
              <a:avLst/>
              <a:gdLst/>
              <a:ahLst/>
              <a:cxnLst/>
              <a:rect l="l" t="t" r="r" b="b"/>
              <a:pathLst>
                <a:path w="7111873" h="4171950">
                  <a:moveTo>
                    <a:pt x="0" y="0"/>
                  </a:moveTo>
                  <a:lnTo>
                    <a:pt x="7111873" y="0"/>
                  </a:lnTo>
                  <a:lnTo>
                    <a:pt x="7111873" y="4171950"/>
                  </a:lnTo>
                  <a:lnTo>
                    <a:pt x="0" y="417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7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76924" y="4666212"/>
            <a:ext cx="5333924" cy="3128962"/>
            <a:chOff x="0" y="0"/>
            <a:chExt cx="7111898" cy="41719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111873" cy="4171950"/>
            </a:xfrm>
            <a:custGeom>
              <a:avLst/>
              <a:gdLst/>
              <a:ahLst/>
              <a:cxnLst/>
              <a:rect l="l" t="t" r="r" b="b"/>
              <a:pathLst>
                <a:path w="7111873" h="4171950">
                  <a:moveTo>
                    <a:pt x="0" y="0"/>
                  </a:moveTo>
                  <a:lnTo>
                    <a:pt x="7111873" y="0"/>
                  </a:lnTo>
                  <a:lnTo>
                    <a:pt x="7111873" y="4171950"/>
                  </a:lnTo>
                  <a:lnTo>
                    <a:pt x="0" y="417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7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6598" y="4666212"/>
            <a:ext cx="5334152" cy="3128962"/>
            <a:chOff x="0" y="0"/>
            <a:chExt cx="7112203" cy="41719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112254" cy="4171950"/>
            </a:xfrm>
            <a:custGeom>
              <a:avLst/>
              <a:gdLst/>
              <a:ahLst/>
              <a:cxnLst/>
              <a:rect l="l" t="t" r="r" b="b"/>
              <a:pathLst>
                <a:path w="7112254" h="4171950">
                  <a:moveTo>
                    <a:pt x="0" y="0"/>
                  </a:moveTo>
                  <a:lnTo>
                    <a:pt x="7112254" y="0"/>
                  </a:lnTo>
                  <a:lnTo>
                    <a:pt x="7112254" y="4171950"/>
                  </a:lnTo>
                  <a:lnTo>
                    <a:pt x="0" y="417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8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7250" y="1302839"/>
            <a:ext cx="1740217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系統開發目標步驟與達成標準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43050" y="5132937"/>
            <a:ext cx="421949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數據整合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875" y="5794924"/>
            <a:ext cx="4476674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整合 CoinGecko 與 Yahoo Finance 異質時序，建立單向日期維度橋樑。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34149" y="5132937"/>
            <a:ext cx="424807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動態建模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05549" y="5794924"/>
            <a:ext cx="447667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透過 DAX 實作 Pearson's r 演算法，隨篩選器即時重算相關係數。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3823" y="5132937"/>
            <a:ext cx="4248302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異常發現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25223" y="5794924"/>
            <a:ext cx="4476902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精確捕捉特定巨集事件下的「脫鉤區間」，提升風險配置之靈活性。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00138" y="5151987"/>
            <a:ext cx="385762" cy="342900"/>
            <a:chOff x="0" y="0"/>
            <a:chExt cx="514350" cy="4572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514350" cy="457200"/>
            </a:xfrm>
            <a:custGeom>
              <a:avLst/>
              <a:gdLst/>
              <a:ahLst/>
              <a:cxnLst/>
              <a:rect l="l" t="t" r="r" b="b"/>
              <a:pathLst>
                <a:path w="514350" h="45720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34099" y="5151987"/>
            <a:ext cx="342900" cy="342900"/>
            <a:chOff x="0" y="0"/>
            <a:chExt cx="457200" cy="4572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53773" y="5151987"/>
            <a:ext cx="342900" cy="342900"/>
            <a:chOff x="0" y="0"/>
            <a:chExt cx="457200" cy="4572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5875" y="3302183"/>
            <a:ext cx="4476674" cy="77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36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第一步：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34149" y="3302183"/>
            <a:ext cx="4476674" cy="77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36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第二步：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53773" y="3302183"/>
            <a:ext cx="4476674" cy="77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36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第三步：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853488" y="2445839"/>
            <a:ext cx="5557748" cy="7145597"/>
            <a:chOff x="0" y="0"/>
            <a:chExt cx="7262175" cy="93369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62175" cy="9336979"/>
            </a:xfrm>
            <a:custGeom>
              <a:avLst/>
              <a:gdLst/>
              <a:ahLst/>
              <a:cxnLst/>
              <a:rect l="l" t="t" r="r" b="b"/>
              <a:pathLst>
                <a:path w="7262175" h="9336979">
                  <a:moveTo>
                    <a:pt x="0" y="0"/>
                  </a:moveTo>
                  <a:lnTo>
                    <a:pt x="7262175" y="0"/>
                  </a:lnTo>
                  <a:lnTo>
                    <a:pt x="7262175" y="9336979"/>
                  </a:lnTo>
                  <a:lnTo>
                    <a:pt x="0" y="933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69" r="-226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75327" y="2372135"/>
            <a:ext cx="5246915" cy="7145597"/>
            <a:chOff x="0" y="0"/>
            <a:chExt cx="6856018" cy="93369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56018" cy="9336979"/>
            </a:xfrm>
            <a:custGeom>
              <a:avLst/>
              <a:gdLst/>
              <a:ahLst/>
              <a:cxnLst/>
              <a:rect l="l" t="t" r="r" b="b"/>
              <a:pathLst>
                <a:path w="6856018" h="9336979">
                  <a:moveTo>
                    <a:pt x="0" y="0"/>
                  </a:moveTo>
                  <a:lnTo>
                    <a:pt x="6856018" y="0"/>
                  </a:lnTo>
                  <a:lnTo>
                    <a:pt x="6856018" y="9336979"/>
                  </a:lnTo>
                  <a:lnTo>
                    <a:pt x="0" y="933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24" r="-642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7250" y="1302839"/>
            <a:ext cx="1740217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技術痛點：異質時序之對齊與衝突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988" y="3582734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9675" y="3458909"/>
            <a:ext cx="757713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數位資產 (24/7)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：週末與假期具備連續價格波動。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988" y="4154234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675" y="4030409"/>
            <a:ext cx="757713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傳統股市 (工作日)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：Yahoo Finance 週末斷檔導致空值。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988" y="4725734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675" y="4601909"/>
            <a:ext cx="757713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失真風險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：若無處理，皮爾森公式分母將因空值引發失真或計算報錯。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20350" y="888476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20350" y="8237886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20350" y="7560582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9933" y="6869294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20350" y="619301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20350" y="545915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20350" y="4763833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20350" y="4073271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74211" y="888476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74211" y="834944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74211" y="7913007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74211" y="7389132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74211" y="6869294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74211" y="6345419"/>
            <a:ext cx="571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週五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405368" y="2460127"/>
            <a:ext cx="6200430" cy="7083154"/>
            <a:chOff x="0" y="0"/>
            <a:chExt cx="8393696" cy="95886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93696" cy="9588664"/>
            </a:xfrm>
            <a:custGeom>
              <a:avLst/>
              <a:gdLst/>
              <a:ahLst/>
              <a:cxnLst/>
              <a:rect l="l" t="t" r="r" b="b"/>
              <a:pathLst>
                <a:path w="8393696" h="9588664">
                  <a:moveTo>
                    <a:pt x="0" y="0"/>
                  </a:moveTo>
                  <a:lnTo>
                    <a:pt x="8393696" y="0"/>
                  </a:lnTo>
                  <a:lnTo>
                    <a:pt x="8393696" y="9588664"/>
                  </a:lnTo>
                  <a:lnTo>
                    <a:pt x="0" y="9588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034" r="-2603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72791" y="2519333"/>
            <a:ext cx="6209016" cy="6964741"/>
            <a:chOff x="0" y="0"/>
            <a:chExt cx="8113171" cy="9100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13171" cy="9100659"/>
            </a:xfrm>
            <a:custGeom>
              <a:avLst/>
              <a:gdLst/>
              <a:ahLst/>
              <a:cxnLst/>
              <a:rect l="l" t="t" r="r" b="b"/>
              <a:pathLst>
                <a:path w="8113171" h="9100659">
                  <a:moveTo>
                    <a:pt x="0" y="0"/>
                  </a:moveTo>
                  <a:lnTo>
                    <a:pt x="8113171" y="0"/>
                  </a:lnTo>
                  <a:lnTo>
                    <a:pt x="8113171" y="9100659"/>
                  </a:lnTo>
                  <a:lnTo>
                    <a:pt x="0" y="9100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67" r="-266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7250" y="1302839"/>
            <a:ext cx="1740217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匯入表格資料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988" y="2742327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9675" y="2618502"/>
            <a:ext cx="757713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將兩筆資料匯入PowerBI中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857625" y="1207961"/>
            <a:ext cx="1110138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建模決策：以美股交易日為主軸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57625" y="2095500"/>
            <a:ext cx="105727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星狀模型架構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43362" y="3019425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10050" y="2895600"/>
            <a:ext cx="102203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dirty="0" err="1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以標普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500 </a:t>
            </a:r>
            <a:r>
              <a:rPr lang="en-US" sz="2250" dirty="0" err="1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交易日為核心日期維度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43362" y="3590925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0050" y="3467100"/>
            <a:ext cx="102203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建立 1 對多 (1:N) 單向關聯對齊。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43362" y="4162425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10050" y="4038600"/>
            <a:ext cx="10220325" cy="46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自動清洗效果</a:t>
            </a:r>
            <a:r>
              <a:rPr lang="en-US" sz="2250" dirty="0" err="1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：零成本剔除週末波動，確保相關係數建立在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1:1 </a:t>
            </a:r>
            <a:r>
              <a:rPr lang="en-US" sz="2250" dirty="0" err="1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的有效樣本之上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7CF563E-863F-3E9D-8DD9-1C3DBCDC0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384" y="4736608"/>
            <a:ext cx="15099232" cy="4458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4495200"/>
            <a:ext cx="16573500" cy="1299048"/>
            <a:chOff x="0" y="0"/>
            <a:chExt cx="22098000" cy="1732064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1732026"/>
            </a:xfrm>
            <a:custGeom>
              <a:avLst/>
              <a:gdLst/>
              <a:ahLst/>
              <a:cxnLst/>
              <a:rect l="l" t="t" r="r" b="b"/>
              <a:pathLst>
                <a:path w="22098000" h="1732026">
                  <a:moveTo>
                    <a:pt x="0" y="0"/>
                  </a:moveTo>
                  <a:lnTo>
                    <a:pt x="22098000" y="0"/>
                  </a:lnTo>
                  <a:lnTo>
                    <a:pt x="22098000" y="1732026"/>
                  </a:lnTo>
                  <a:lnTo>
                    <a:pt x="0" y="1732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18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7250" y="1302839"/>
            <a:ext cx="1740217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 dirty="0" err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演算法實作：DAX</a:t>
            </a:r>
            <a:r>
              <a:rPr lang="en-US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500" b="1" dirty="0" err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動態皮爾森矩陣</a:t>
            </a:r>
            <a:r>
              <a:rPr lang="en-US" altLang="zh-TW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zh-TW" altLang="en-US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皮爾森相關係數</a:t>
            </a:r>
            <a:r>
              <a:rPr lang="en-US" altLang="zh-TW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  <a:endParaRPr lang="en-US" sz="45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0150" y="4780950"/>
            <a:ext cx="15944850" cy="727548"/>
            <a:chOff x="0" y="0"/>
            <a:chExt cx="21259800" cy="970064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21259800" cy="970026"/>
            </a:xfrm>
            <a:custGeom>
              <a:avLst/>
              <a:gdLst/>
              <a:ahLst/>
              <a:cxnLst/>
              <a:rect l="l" t="t" r="r" b="b"/>
              <a:pathLst>
                <a:path w="21259800" h="970026">
                  <a:moveTo>
                    <a:pt x="0" y="0"/>
                  </a:moveTo>
                  <a:lnTo>
                    <a:pt x="21259800" y="0"/>
                  </a:lnTo>
                  <a:lnTo>
                    <a:pt x="21259800" y="970026"/>
                  </a:lnTo>
                  <a:lnTo>
                    <a:pt x="0" y="970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75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2988" y="6289548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/>
              <p:cNvSpPr txBox="1"/>
              <p:nvPr/>
            </p:nvSpPr>
            <p:spPr>
              <a:xfrm>
                <a:off x="1209675" y="6165723"/>
                <a:ext cx="16221075" cy="46044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05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1E3A8A"/>
                        </a:solidFill>
                        <a:latin typeface="Cambria Math" panose="02040503050406030204" pitchFamily="18" charset="0"/>
                        <a:ea typeface="Arimo Bold"/>
                        <a:cs typeface="Arimo Bold"/>
                        <a:sym typeface="Arimo Bold"/>
                      </a:rPr>
                      <m:t>𝒙𝒊</m:t>
                    </m:r>
                    <m:r>
                      <a:rPr lang="en-US" sz="2400" b="1" i="1" smtClean="0">
                        <a:solidFill>
                          <a:srgbClr val="1E3A8A"/>
                        </a:solidFill>
                        <a:latin typeface="Cambria Math" panose="02040503050406030204" pitchFamily="18" charset="0"/>
                        <a:ea typeface="Arimo Bold"/>
                        <a:cs typeface="Arimo Bold"/>
                        <a:sym typeface="Arimo Bold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1E3A8A"/>
                        </a:solidFill>
                        <a:latin typeface="Cambria Math" panose="02040503050406030204" pitchFamily="18" charset="0"/>
                        <a:ea typeface="Arimo Bold"/>
                        <a:cs typeface="Arimo Bold"/>
                        <a:sym typeface="Arimo Bold"/>
                      </a:rPr>
                      <m:t>𝒚𝒊</m:t>
                    </m:r>
                  </m:oMath>
                </a14:m>
                <a:r>
                  <a:rPr lang="en-US" sz="2250" dirty="0">
                    <a:solidFill>
                      <a:srgbClr val="334155"/>
                    </a:solidFill>
                    <a:latin typeface="Arimo"/>
                    <a:ea typeface="Arimo"/>
                    <a:cs typeface="Arimo"/>
                    <a:sym typeface="Arimo"/>
                  </a:rPr>
                  <a:t>：</a:t>
                </a:r>
                <a:r>
                  <a:rPr lang="zh-TW" altLang="en-US" sz="2250" dirty="0">
                    <a:solidFill>
                      <a:srgbClr val="334155"/>
                    </a:solidFill>
                    <a:latin typeface="Arimo"/>
                    <a:ea typeface="Arimo"/>
                    <a:cs typeface="Arimo"/>
                    <a:sym typeface="Arimo"/>
                  </a:rPr>
                  <a:t>個別價格數據。</a:t>
                </a:r>
                <a:endParaRPr lang="en-US" sz="2250" dirty="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mc:Choice>
        <mc:Fallback xmlns="">
          <p:sp>
            <p:nvSpPr>
              <p:cNvPr id="12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675" y="6165723"/>
                <a:ext cx="16221075" cy="460447"/>
              </a:xfrm>
              <a:prstGeom prst="rect">
                <a:avLst/>
              </a:prstGeom>
              <a:blipFill>
                <a:blip r:embed="rId6"/>
                <a:stretch>
                  <a:fillRect l="-639" b="-368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3"/>
          <p:cNvSpPr txBox="1"/>
          <p:nvPr/>
        </p:nvSpPr>
        <p:spPr>
          <a:xfrm>
            <a:off x="1042988" y="6861048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4"/>
              <p:cNvSpPr txBox="1"/>
              <p:nvPr/>
            </p:nvSpPr>
            <p:spPr>
              <a:xfrm>
                <a:off x="1209675" y="6737223"/>
                <a:ext cx="16221075" cy="46038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405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TW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50" dirty="0">
                    <a:solidFill>
                      <a:srgbClr val="334155"/>
                    </a:solidFill>
                    <a:latin typeface="Arimo"/>
                    <a:ea typeface="Arimo"/>
                    <a:cs typeface="Arimo"/>
                    <a:sym typeface="Arimo"/>
                  </a:rPr>
                  <a:t>：</a:t>
                </a:r>
                <a:r>
                  <a:rPr lang="zh-TW" altLang="en-US" sz="2250" dirty="0">
                    <a:solidFill>
                      <a:srgbClr val="334155"/>
                    </a:solidFill>
                    <a:latin typeface="Arimo"/>
                    <a:ea typeface="Arimo"/>
                    <a:cs typeface="Arimo"/>
                    <a:sym typeface="Arimo"/>
                  </a:rPr>
                  <a:t>該時段的平均價格</a:t>
                </a:r>
                <a:endParaRPr lang="en-US" sz="2250" dirty="0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mc:Choice>
        <mc:Fallback xmlns="">
          <p:sp>
            <p:nvSpPr>
              <p:cNvPr id="14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675" y="6737223"/>
                <a:ext cx="16221075" cy="460382"/>
              </a:xfrm>
              <a:prstGeom prst="rect">
                <a:avLst/>
              </a:prstGeom>
              <a:blipFill>
                <a:blip r:embed="rId7"/>
                <a:stretch>
                  <a:fillRect l="-451" b="-368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5"/>
          <p:cNvSpPr txBox="1"/>
          <p:nvPr/>
        </p:nvSpPr>
        <p:spPr>
          <a:xfrm>
            <a:off x="1042988" y="7432548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675" y="7308723"/>
            <a:ext cx="16221075" cy="46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zh-TW" alt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分子：</a:t>
            </a:r>
            <a:r>
              <a:rPr lang="zh-TW" altLang="en-US" sz="2250" b="1" dirty="0">
                <a:solidFill>
                  <a:srgbClr val="1E3A8A"/>
                </a:solidFill>
                <a:latin typeface="Arimo" panose="020B0604020202020204" charset="0"/>
                <a:ea typeface="Arimo Bold"/>
                <a:cs typeface="Arimo" panose="020B0604020202020204" charset="0"/>
                <a:sym typeface="Arimo Bold"/>
              </a:rPr>
              <a:t>看兩者是否同時偏離平均值</a:t>
            </a:r>
            <a:r>
              <a:rPr lang="en-US" altLang="zh-TW" sz="2250" b="1" dirty="0">
                <a:solidFill>
                  <a:srgbClr val="1E3A8A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(</a:t>
            </a:r>
            <a:r>
              <a:rPr lang="zh-TW" altLang="en-US" sz="2250" b="1" dirty="0">
                <a:solidFill>
                  <a:srgbClr val="1E3A8A"/>
                </a:solidFill>
                <a:latin typeface="Arimo" panose="020B0604020202020204" charset="0"/>
                <a:ea typeface="Arimo Bold"/>
                <a:cs typeface="Arimo" panose="020B0604020202020204" charset="0"/>
                <a:sym typeface="Arimo Bold"/>
              </a:rPr>
              <a:t>同步性</a:t>
            </a:r>
            <a:r>
              <a:rPr lang="en-US" altLang="zh-TW" sz="2250" b="1" dirty="0">
                <a:solidFill>
                  <a:srgbClr val="1E3A8A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)</a:t>
            </a:r>
            <a:endParaRPr lang="en-US" sz="2250" dirty="0">
              <a:solidFill>
                <a:srgbClr val="334155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C04ECC9D-96A4-3FF8-F76E-90C7AD059A80}"/>
              </a:ext>
            </a:extLst>
          </p:cNvPr>
          <p:cNvSpPr txBox="1"/>
          <p:nvPr/>
        </p:nvSpPr>
        <p:spPr>
          <a:xfrm>
            <a:off x="1042988" y="7954790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04F5D29E-F932-21A0-7186-454739A9DB89}"/>
              </a:ext>
            </a:extLst>
          </p:cNvPr>
          <p:cNvSpPr txBox="1"/>
          <p:nvPr/>
        </p:nvSpPr>
        <p:spPr>
          <a:xfrm>
            <a:off x="1209675" y="7830965"/>
            <a:ext cx="16221075" cy="46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zh-TW" alt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分屬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</a:t>
            </a:r>
            <a:r>
              <a:rPr lang="zh-TW" alt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用來做標準化，確保結果不會因為幾萬塊起千塊的量級不同而失真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21E5-4AF2-2C94-AC4D-00D10B5D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5342E8-F365-A300-1256-B7EF99B8A05B}"/>
              </a:ext>
            </a:extLst>
          </p:cNvPr>
          <p:cNvGrpSpPr/>
          <p:nvPr/>
        </p:nvGrpSpPr>
        <p:grpSpPr>
          <a:xfrm>
            <a:off x="-28575" y="6976"/>
            <a:ext cx="18288000" cy="10287000"/>
            <a:chOff x="0" y="0"/>
            <a:chExt cx="24384000" cy="13716000"/>
          </a:xfrm>
        </p:grpSpPr>
        <p:sp>
          <p:nvSpPr>
            <p:cNvPr id="3" name="Freeform 3" descr="image.png">
              <a:extLst>
                <a:ext uri="{FF2B5EF4-FFF2-40B4-BE49-F238E27FC236}">
                  <a16:creationId xmlns:a16="http://schemas.microsoft.com/office/drawing/2014/main" id="{F1F8EB26-32AE-EB9F-7DD5-BBF7B92733E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2833AFA-7C06-6A48-ADF8-9313C8951B5E}"/>
              </a:ext>
            </a:extLst>
          </p:cNvPr>
          <p:cNvGrpSpPr/>
          <p:nvPr/>
        </p:nvGrpSpPr>
        <p:grpSpPr>
          <a:xfrm>
            <a:off x="657225" y="2494376"/>
            <a:ext cx="16973550" cy="3567482"/>
            <a:chOff x="0" y="0"/>
            <a:chExt cx="22098000" cy="1732064"/>
          </a:xfrm>
        </p:grpSpPr>
        <p:sp>
          <p:nvSpPr>
            <p:cNvPr id="5" name="Freeform 5" descr="image.png">
              <a:extLst>
                <a:ext uri="{FF2B5EF4-FFF2-40B4-BE49-F238E27FC236}">
                  <a16:creationId xmlns:a16="http://schemas.microsoft.com/office/drawing/2014/main" id="{026253DE-5ECF-7662-C5B9-8985FD80E861}"/>
                </a:ext>
              </a:extLst>
            </p:cNvPr>
            <p:cNvSpPr/>
            <p:nvPr/>
          </p:nvSpPr>
          <p:spPr>
            <a:xfrm>
              <a:off x="0" y="0"/>
              <a:ext cx="22098000" cy="1732026"/>
            </a:xfrm>
            <a:custGeom>
              <a:avLst/>
              <a:gdLst/>
              <a:ahLst/>
              <a:cxnLst/>
              <a:rect l="l" t="t" r="r" b="b"/>
              <a:pathLst>
                <a:path w="22098000" h="1732026">
                  <a:moveTo>
                    <a:pt x="0" y="0"/>
                  </a:moveTo>
                  <a:lnTo>
                    <a:pt x="22098000" y="0"/>
                  </a:lnTo>
                  <a:lnTo>
                    <a:pt x="22098000" y="1732026"/>
                  </a:lnTo>
                  <a:lnTo>
                    <a:pt x="0" y="1732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18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AD2806C-E7B5-7702-93A5-4593B6F51D44}"/>
              </a:ext>
            </a:extLst>
          </p:cNvPr>
          <p:cNvSpPr txBox="1"/>
          <p:nvPr/>
        </p:nvSpPr>
        <p:spPr>
          <a:xfrm>
            <a:off x="857250" y="1302839"/>
            <a:ext cx="17402175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演算法實作：DAX 動態皮爾森矩陣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D23ABD2-E751-45A6-5C80-5D5DC2A729C0}"/>
              </a:ext>
            </a:extLst>
          </p:cNvPr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3726277-892A-4C77-C54B-A6FC26353252}"/>
                </a:ext>
              </a:extLst>
            </p:cNvPr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ACFD28A-578F-F058-9A8C-F8EB31917AE3}"/>
              </a:ext>
            </a:extLst>
          </p:cNvPr>
          <p:cNvSpPr txBox="1"/>
          <p:nvPr/>
        </p:nvSpPr>
        <p:spPr>
          <a:xfrm>
            <a:off x="1042988" y="6289548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1CFA0A7-9E55-2FE7-EC1C-E8969142CDF0}"/>
              </a:ext>
            </a:extLst>
          </p:cNvPr>
          <p:cNvSpPr txBox="1"/>
          <p:nvPr/>
        </p:nvSpPr>
        <p:spPr>
          <a:xfrm>
            <a:off x="1209675" y="6165723"/>
            <a:ext cx="16221075" cy="99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en-US" sz="225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虛擬表</a:t>
            </a:r>
            <a:r>
              <a:rPr 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 (SUMMARIZE)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</a:t>
            </a:r>
            <a:r>
              <a:rPr lang="zh-TW" altLang="zh-TW" sz="2400" dirty="0"/>
              <a:t>利用 </a:t>
            </a:r>
            <a:r>
              <a:rPr lang="zh-TW" altLang="zh-TW" b="1" dirty="0">
                <a:solidFill>
                  <a:schemeClr val="accent2"/>
                </a:solidFill>
              </a:rPr>
              <a:t>ADDCOLUMNS</a:t>
            </a:r>
            <a:r>
              <a:rPr lang="zh-TW" altLang="zh-TW" sz="2400" b="1" dirty="0">
                <a:solidFill>
                  <a:schemeClr val="accent2"/>
                </a:solidFill>
              </a:rPr>
              <a:t> </a:t>
            </a:r>
            <a:r>
              <a:rPr lang="zh-TW" altLang="zh-TW" sz="2400" dirty="0"/>
              <a:t>結合 </a:t>
            </a:r>
            <a:r>
              <a:rPr lang="zh-TW" altLang="zh-TW" b="1" dirty="0">
                <a:solidFill>
                  <a:schemeClr val="accent2"/>
                </a:solidFill>
              </a:rPr>
              <a:t>VALUES</a:t>
            </a:r>
            <a:r>
              <a:rPr lang="zh-TW" altLang="zh-TW" sz="2400" dirty="0"/>
              <a:t> 函數，在記憶體內動態建構執行期臨時表。配合 </a:t>
            </a:r>
            <a:r>
              <a:rPr lang="zh-TW" altLang="zh-TW" b="1" dirty="0">
                <a:solidFill>
                  <a:schemeClr val="accent2"/>
                </a:solidFill>
              </a:rPr>
              <a:t>NOT(ISBLANK)</a:t>
            </a:r>
            <a:r>
              <a:rPr lang="zh-TW" altLang="zh-TW" sz="2400" b="1" dirty="0">
                <a:solidFill>
                  <a:schemeClr val="accent2"/>
                </a:solidFill>
              </a:rPr>
              <a:t> </a:t>
            </a:r>
            <a:r>
              <a:rPr lang="zh-TW" altLang="zh-TW" sz="2400" dirty="0"/>
              <a:t>篩選條件，實時剔除週末美股休市所引發的空值列。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769D873-905F-204A-D038-EF66905F6255}"/>
              </a:ext>
            </a:extLst>
          </p:cNvPr>
          <p:cNvSpPr txBox="1"/>
          <p:nvPr/>
        </p:nvSpPr>
        <p:spPr>
          <a:xfrm>
            <a:off x="1014413" y="7451399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AD2A88F-EC17-C7DE-1A12-FCFC0EAF585B}"/>
              </a:ext>
            </a:extLst>
          </p:cNvPr>
          <p:cNvSpPr txBox="1"/>
          <p:nvPr/>
        </p:nvSpPr>
        <p:spPr>
          <a:xfrm>
            <a:off x="1151988" y="7350141"/>
            <a:ext cx="16221075" cy="99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zh-TW" alt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動態協方差分子</a:t>
            </a:r>
            <a:r>
              <a:rPr lang="en-US" altLang="zh-TW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(Numerator)</a:t>
            </a:r>
            <a:r>
              <a:rPr lang="zh-TW" alt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：</a:t>
            </a:r>
            <a:r>
              <a:rPr lang="zh-TW" altLang="zh-TW" sz="2400" dirty="0"/>
              <a:t>調用 </a:t>
            </a:r>
            <a:r>
              <a:rPr lang="zh-TW" altLang="zh-TW" b="1" dirty="0">
                <a:solidFill>
                  <a:schemeClr val="accent2"/>
                </a:solidFill>
              </a:rPr>
              <a:t>SUMX</a:t>
            </a:r>
            <a:r>
              <a:rPr lang="zh-TW" altLang="zh-TW" sz="2400" b="1" dirty="0">
                <a:solidFill>
                  <a:schemeClr val="accent2"/>
                </a:solidFill>
              </a:rPr>
              <a:t> </a:t>
            </a:r>
            <a:r>
              <a:rPr lang="zh-TW" altLang="zh-TW" sz="2400" dirty="0"/>
              <a:t>迭代函數進行時間序列的逐日掃描，將單日價格觀測值減去區間算術平均數（</a:t>
            </a:r>
            <a:r>
              <a:rPr lang="zh-TW" altLang="zh-TW" dirty="0"/>
              <a:t>MeanX</a:t>
            </a:r>
            <a:r>
              <a:rPr lang="zh-TW" altLang="zh-TW" sz="2400" dirty="0"/>
              <a:t>, </a:t>
            </a:r>
            <a:r>
              <a:rPr lang="zh-TW" altLang="zh-TW" dirty="0"/>
              <a:t>MeanY</a:t>
            </a:r>
            <a:r>
              <a:rPr lang="zh-TW" altLang="zh-TW" sz="2400" dirty="0"/>
              <a:t>），精確重現皮爾森公式之分子矩陣累加。</a:t>
            </a:r>
            <a:endParaRPr lang="en-US" sz="2250" dirty="0">
              <a:solidFill>
                <a:srgbClr val="334155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BB8C69D-3539-E13B-0A25-2C4CE771F07B}"/>
              </a:ext>
            </a:extLst>
          </p:cNvPr>
          <p:cNvSpPr txBox="1"/>
          <p:nvPr/>
        </p:nvSpPr>
        <p:spPr>
          <a:xfrm>
            <a:off x="992982" y="8648849"/>
            <a:ext cx="1000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237171A-AD80-B54E-442B-E96561543BB8}"/>
              </a:ext>
            </a:extLst>
          </p:cNvPr>
          <p:cNvSpPr txBox="1"/>
          <p:nvPr/>
        </p:nvSpPr>
        <p:spPr>
          <a:xfrm>
            <a:off x="1151988" y="8576540"/>
            <a:ext cx="16221075" cy="99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en-US" sz="225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安全除法</a:t>
            </a:r>
            <a:r>
              <a:rPr lang="en-US" sz="22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 (DIVIDE)</a:t>
            </a: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</a:t>
            </a:r>
            <a:r>
              <a:rPr lang="zh-TW" altLang="zh-TW" sz="2400" dirty="0"/>
              <a:t>透過 </a:t>
            </a:r>
            <a:r>
              <a:rPr lang="zh-TW" altLang="zh-TW" b="1" dirty="0">
                <a:solidFill>
                  <a:schemeClr val="accent2"/>
                </a:solidFill>
              </a:rPr>
              <a:t>SQRT</a:t>
            </a:r>
            <a:r>
              <a:rPr lang="zh-TW" altLang="zh-TW" sz="2400" b="1" dirty="0">
                <a:solidFill>
                  <a:schemeClr val="accent2"/>
                </a:solidFill>
              </a:rPr>
              <a:t> </a:t>
            </a:r>
            <a:r>
              <a:rPr lang="zh-TW" altLang="zh-TW" sz="2400" dirty="0"/>
              <a:t>開根號完成分母項的去單位化處理，根除萬級與千級資產的量級失真；最終輸出導入 </a:t>
            </a:r>
            <a:r>
              <a:rPr lang="zh-TW" altLang="zh-TW" b="1" dirty="0">
                <a:solidFill>
                  <a:schemeClr val="accent2"/>
                </a:solidFill>
              </a:rPr>
              <a:t>DIVIDE</a:t>
            </a:r>
            <a:r>
              <a:rPr lang="zh-TW" altLang="zh-TW" sz="2400" dirty="0"/>
              <a:t> 函數，當市場波動歸零時自動攔截異常，確保系統不報錯。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5ECACA9-47C0-23B8-CD58-A83F3201F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8" y="2583952"/>
            <a:ext cx="14489547" cy="331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9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86200" y="7183600"/>
            <a:ext cx="13430250" cy="571500"/>
            <a:chOff x="0" y="0"/>
            <a:chExt cx="17907000" cy="762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7907000" cy="762000"/>
            </a:xfrm>
            <a:custGeom>
              <a:avLst/>
              <a:gdLst/>
              <a:ahLst/>
              <a:cxnLst/>
              <a:rect l="l" t="t" r="r" b="b"/>
              <a:pathLst>
                <a:path w="17907000" h="762000">
                  <a:moveTo>
                    <a:pt x="0" y="0"/>
                  </a:moveTo>
                  <a:lnTo>
                    <a:pt x="17907000" y="0"/>
                  </a:lnTo>
                  <a:lnTo>
                    <a:pt x="17907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50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86200" y="7183600"/>
            <a:ext cx="11734800" cy="571500"/>
            <a:chOff x="0" y="0"/>
            <a:chExt cx="15579026" cy="762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5579089" cy="762000"/>
            </a:xfrm>
            <a:custGeom>
              <a:avLst/>
              <a:gdLst/>
              <a:ahLst/>
              <a:cxnLst/>
              <a:rect l="l" t="t" r="r" b="b"/>
              <a:pathLst>
                <a:path w="15579089" h="762000">
                  <a:moveTo>
                    <a:pt x="0" y="0"/>
                  </a:moveTo>
                  <a:lnTo>
                    <a:pt x="15579089" y="0"/>
                  </a:lnTo>
                  <a:lnTo>
                    <a:pt x="15579089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47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9049" y="1304701"/>
            <a:ext cx="1740217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altLang="zh-TW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2023-2026</a:t>
            </a:r>
            <a:r>
              <a:rPr lang="zh-TW" altLang="en-US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500" b="1" dirty="0" err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全週期觀測：資產機構化導致強正相關</a:t>
            </a:r>
            <a:endParaRPr lang="en-US" sz="45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22" name="圖片 21">
            <a:extLst>
              <a:ext uri="{FF2B5EF4-FFF2-40B4-BE49-F238E27FC236}">
                <a16:creationId xmlns:a16="http://schemas.microsoft.com/office/drawing/2014/main" id="{69F30113-4F16-77EF-CD0E-9372CF000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2574830"/>
            <a:ext cx="7832149" cy="4571682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71587" y="6507030"/>
            <a:ext cx="165735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dirty="0" err="1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全週期皮爾森相關係數：</a:t>
            </a:r>
            <a:r>
              <a:rPr lang="en-US" sz="270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sz="270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 = 0.87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8971819"/>
            <a:ext cx="165735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i="1" dirty="0">
                <a:solidFill>
                  <a:srgbClr val="334155"/>
                </a:solidFill>
                <a:latin typeface="Arimo Italics"/>
                <a:ea typeface="Arimo Italics"/>
                <a:cs typeface="Arimo Italics"/>
                <a:sym typeface="Arimo Italics"/>
              </a:rPr>
              <a:t>* </a:t>
            </a:r>
            <a:r>
              <a:rPr lang="en-US" sz="2250" i="1" dirty="0" err="1">
                <a:solidFill>
                  <a:srgbClr val="334155"/>
                </a:solidFill>
                <a:latin typeface="Arimo Italics"/>
                <a:ea typeface="Arimo Italics"/>
                <a:cs typeface="Arimo Italics"/>
                <a:sym typeface="Arimo Italics"/>
              </a:rPr>
              <a:t>數據證明華爾街資本進場後，比特幣與傳統股市已綁定在同一流動性戰車</a:t>
            </a:r>
            <a:r>
              <a:rPr lang="en-US" sz="2250" i="1" dirty="0">
                <a:solidFill>
                  <a:srgbClr val="334155"/>
                </a:solidFill>
                <a:latin typeface="Arimo Italics"/>
                <a:ea typeface="Arimo Italics"/>
                <a:cs typeface="Arimo Italics"/>
                <a:sym typeface="Arimo Italics"/>
              </a:rPr>
              <a:t>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2950" y="7339740"/>
            <a:ext cx="28575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 dirty="0" err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全週期</a:t>
            </a:r>
            <a:r>
              <a:rPr lang="en-US" sz="180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 (2023-2026)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01188" y="3373184"/>
            <a:ext cx="7929562" cy="5715000"/>
            <a:chOff x="0" y="0"/>
            <a:chExt cx="1057275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620000"/>
            </a:xfrm>
            <a:custGeom>
              <a:avLst/>
              <a:gdLst/>
              <a:ahLst/>
              <a:cxnLst/>
              <a:rect l="l" t="t" r="r" b="b"/>
              <a:pathLst>
                <a:path w="10572750" h="762000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0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7250" y="1302839"/>
            <a:ext cx="17402175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深度發現：2023 秋季非對稱性脫鉤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7250" y="3754184"/>
            <a:ext cx="832604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動態負相關：r = -0.75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4487609"/>
            <a:ext cx="79295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宏觀利空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：美債殖利率破 5%，美股標普 500 大重挫。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5201983"/>
            <a:ext cx="79295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產業利多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：灰度勝訴與 ETF 獲批預期，推升比特幣逆勢噴發。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5916359"/>
            <a:ext cx="7929562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結論</a:t>
            </a: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：比特幣避險價值並非失效，而是與「特定事件」掛鉤的動態屬性。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53673C6-3C9B-E5C8-1B24-D85B35D28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241" y="2734412"/>
            <a:ext cx="9390184" cy="60781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EBA2-E5E2-3FED-EC92-BD976854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C3CE45-C3EA-6A76-B00B-3C9B4416AF42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>
              <a:extLst>
                <a:ext uri="{FF2B5EF4-FFF2-40B4-BE49-F238E27FC236}">
                  <a16:creationId xmlns:a16="http://schemas.microsoft.com/office/drawing/2014/main" id="{55199EFE-FC83-24AA-0CB3-CAF05F57A95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28AEFC6-E73D-8F67-03AF-A45400B75261}"/>
              </a:ext>
            </a:extLst>
          </p:cNvPr>
          <p:cNvSpPr txBox="1"/>
          <p:nvPr/>
        </p:nvSpPr>
        <p:spPr>
          <a:xfrm>
            <a:off x="857250" y="1302839"/>
            <a:ext cx="1740217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zh-TW" altLang="en-US" sz="45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結論</a:t>
            </a:r>
            <a:endParaRPr lang="en-US" sz="45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9ADEBAE-8C74-2094-531A-3B68D2B230A5}"/>
              </a:ext>
            </a:extLst>
          </p:cNvPr>
          <p:cNvGrpSpPr/>
          <p:nvPr/>
        </p:nvGrpSpPr>
        <p:grpSpPr>
          <a:xfrm>
            <a:off x="857250" y="2445839"/>
            <a:ext cx="16573500" cy="14288"/>
            <a:chOff x="0" y="0"/>
            <a:chExt cx="22098000" cy="1905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66D623-08F4-42E9-619D-E17A9790B330}"/>
                </a:ext>
              </a:extLst>
            </p:cNvPr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1F27BE9-F59C-C5C2-9A82-DE155662355E}"/>
              </a:ext>
            </a:extLst>
          </p:cNvPr>
          <p:cNvSpPr txBox="1"/>
          <p:nvPr/>
        </p:nvSpPr>
        <p:spPr>
          <a:xfrm>
            <a:off x="857250" y="3754184"/>
            <a:ext cx="8326041" cy="4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zh-TW" altLang="en-US" sz="31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長期</a:t>
            </a:r>
            <a:r>
              <a:rPr lang="zh-TW" altLang="en-US" sz="3150" b="1" dirty="0">
                <a:solidFill>
                  <a:srgbClr val="1E3A8A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mo Bold"/>
                <a:sym typeface="Arimo Bold"/>
              </a:rPr>
              <a:t>「</a:t>
            </a:r>
            <a:r>
              <a:rPr lang="zh-TW" altLang="en-US" sz="31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機構化</a:t>
            </a:r>
            <a:r>
              <a:rPr lang="zh-TW" altLang="en-US" sz="3150" b="1" dirty="0">
                <a:solidFill>
                  <a:srgbClr val="1E3A8A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mo Bold"/>
                <a:sym typeface="Arimo Bold"/>
              </a:rPr>
              <a:t>」</a:t>
            </a:r>
            <a:r>
              <a:rPr lang="zh-TW" altLang="en-US" sz="31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假說成立 </a:t>
            </a:r>
            <a:endParaRPr lang="en-US" sz="3150" b="1" dirty="0">
              <a:solidFill>
                <a:srgbClr val="1E3A8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BC6185-3162-C929-F7E2-FF2FB9C1386D}"/>
              </a:ext>
            </a:extLst>
          </p:cNvPr>
          <p:cNvSpPr txBox="1"/>
          <p:nvPr/>
        </p:nvSpPr>
        <p:spPr>
          <a:xfrm>
            <a:off x="857250" y="4487609"/>
            <a:ext cx="7929562" cy="99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zh-TW" altLang="zh-TW" sz="2400" dirty="0"/>
              <a:t>全週期相關係數高達 </a:t>
            </a:r>
            <a:r>
              <a:rPr lang="en-US" altLang="zh-TW" sz="3600" b="1" dirty="0"/>
              <a:t>r </a:t>
            </a:r>
            <a:r>
              <a:rPr lang="zh-TW" altLang="zh-TW" sz="2800" b="1" dirty="0"/>
              <a:t>= 0.87</a:t>
            </a:r>
            <a:r>
              <a:rPr lang="zh-TW" altLang="zh-TW" sz="2400" dirty="0"/>
              <a:t>，證實現貨 ETF 通過後，數位資產已深度融入傳統美股資金池，呈現高度系統性共振。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7A28F22F-8EEB-20B5-1A87-87EEF6B353C3}"/>
              </a:ext>
            </a:extLst>
          </p:cNvPr>
          <p:cNvSpPr txBox="1"/>
          <p:nvPr/>
        </p:nvSpPr>
        <p:spPr>
          <a:xfrm>
            <a:off x="813666" y="5845706"/>
            <a:ext cx="8326041" cy="4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9"/>
              </a:lnSpc>
            </a:pPr>
            <a:r>
              <a:rPr lang="zh-TW" altLang="en-US" sz="31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避險屬性具備</a:t>
            </a:r>
            <a:r>
              <a:rPr lang="zh-TW" altLang="en-US" sz="3150" b="1" dirty="0">
                <a:solidFill>
                  <a:srgbClr val="1E3A8A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mo Bold"/>
                <a:sym typeface="Arimo Bold"/>
              </a:rPr>
              <a:t>「</a:t>
            </a:r>
            <a:r>
              <a:rPr lang="zh-TW" altLang="en-US" sz="315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動態非對稱性</a:t>
            </a:r>
            <a:r>
              <a:rPr lang="zh-TW" altLang="en-US" sz="3150" b="1" dirty="0">
                <a:solidFill>
                  <a:srgbClr val="1E3A8A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Arimo Bold"/>
                <a:sym typeface="Arimo Bold"/>
              </a:rPr>
              <a:t>」</a:t>
            </a:r>
            <a:endParaRPr lang="en-US" sz="3150" b="1" dirty="0">
              <a:solidFill>
                <a:srgbClr val="1E3A8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44FFCA83-24C8-557A-77DB-C2CE471C63D2}"/>
              </a:ext>
            </a:extLst>
          </p:cNvPr>
          <p:cNvSpPr txBox="1"/>
          <p:nvPr/>
        </p:nvSpPr>
        <p:spPr>
          <a:xfrm>
            <a:off x="814739" y="6489349"/>
            <a:ext cx="7929562" cy="151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zh-TW" altLang="zh-TW" sz="2400" dirty="0"/>
              <a:t>2023年秋季的</a:t>
            </a:r>
            <a:r>
              <a:rPr lang="zh-TW" altLang="zh-TW" sz="3600" dirty="0"/>
              <a:t> </a:t>
            </a:r>
            <a:r>
              <a:rPr lang="en-US" altLang="zh-TW" sz="3600" b="1" dirty="0"/>
              <a:t>r </a:t>
            </a:r>
            <a:r>
              <a:rPr lang="zh-TW" altLang="zh-TW" sz="2800" b="1" dirty="0"/>
              <a:t>= </a:t>
            </a:r>
            <a:r>
              <a:rPr lang="en-US" altLang="zh-TW" sz="2800" b="1" dirty="0"/>
              <a:t>-</a:t>
            </a:r>
            <a:r>
              <a:rPr lang="zh-TW" altLang="zh-TW" sz="2800" b="1" dirty="0"/>
              <a:t>0.</a:t>
            </a:r>
            <a:r>
              <a:rPr lang="en-US" altLang="zh-TW" sz="2800" b="1" dirty="0"/>
              <a:t>75</a:t>
            </a:r>
            <a:r>
              <a:rPr lang="zh-TW" altLang="en-US" sz="2800" b="1" dirty="0"/>
              <a:t> </a:t>
            </a:r>
            <a:r>
              <a:rPr lang="zh-TW" altLang="zh-TW" sz="2400" dirty="0"/>
              <a:t>實證顯示，在傳統金融信用緊縮且數位資產迎來產業利多時，兩者會迅速觸發脫鉤，發揮獨立避險潛力。</a:t>
            </a:r>
            <a:endParaRPr lang="en-US" sz="2250" dirty="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195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400800" y="3396404"/>
            <a:ext cx="57575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zh-TW" altLang="en-US" sz="90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報告結束</a:t>
            </a:r>
            <a:endParaRPr lang="en-US" sz="90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43700" y="5231902"/>
            <a:ext cx="4800600" cy="55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 dirty="0" err="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感謝各位的聆聽</a:t>
            </a:r>
            <a:endParaRPr lang="en-US" sz="2700" dirty="0">
              <a:solidFill>
                <a:srgbClr val="64748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907756" y="6462116"/>
            <a:ext cx="84724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25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112111207 陳品霖 | Power BI Financial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580</Words>
  <Application>Microsoft Office PowerPoint</Application>
  <PresentationFormat>自訂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Arimo Bold</vt:lpstr>
      <vt:lpstr>PMingLiU</vt:lpstr>
      <vt:lpstr>Arial</vt:lpstr>
      <vt:lpstr>Cambria Math</vt:lpstr>
      <vt:lpstr>Arimo Italics</vt:lpstr>
      <vt:lpstr>Calibri</vt:lpstr>
      <vt:lpstr>Arimo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數位資產與金融指數動態關聯研究.pptx</dc:title>
  <cp:lastModifiedBy>品霖 陳</cp:lastModifiedBy>
  <cp:revision>6</cp:revision>
  <dcterms:created xsi:type="dcterms:W3CDTF">2006-08-16T00:00:00Z</dcterms:created>
  <dcterms:modified xsi:type="dcterms:W3CDTF">2026-06-14T21:47:54Z</dcterms:modified>
  <dc:identifier>DAHMdhCu64M</dc:identifier>
</cp:coreProperties>
</file>